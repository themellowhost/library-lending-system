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371600" cy="73152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0071E3"/>
                </a:solidFill>
              </a:defRPr>
            </a:pPr>
            <a:r>
              <a:t>DBMS SEMESTER 5 • LAB CONTINUOUS ASSESSMENT (LCA)</a:t>
            </a:r>
          </a:p>
          <a:p>
            <a:pPr>
              <a:spcAft>
                <a:spcPts val="1600"/>
              </a:spcAft>
              <a:defRPr sz="4400" b="1">
                <a:solidFill>
                  <a:srgbClr val="FAFAFA"/>
                </a:solidFill>
              </a:defRPr>
            </a:pPr>
            <a:r>
              <a:t>Library Lending System (LiberFlow)</a:t>
            </a:r>
          </a:p>
          <a:p>
            <a:pPr>
              <a:spcAft>
                <a:spcPts val="3600"/>
              </a:spcAft>
              <a:defRPr sz="2000">
                <a:solidFill>
                  <a:srgbClr val="38BDF8"/>
                </a:solidFill>
              </a:defRPr>
            </a:pPr>
            <a:r>
              <a:t>Relational Modeling, Interactive E-Reader, Federated OAuth &amp; Apple-Inspired Architecture</a:t>
            </a:r>
          </a:p>
          <a:p>
            <a:pPr>
              <a:defRPr sz="1200">
                <a:solidFill>
                  <a:srgbClr val="A1A1AA"/>
                </a:solidFill>
              </a:defRPr>
            </a:pPr>
            <a:r>
              <a:t>Engineered with React 19 • Node.js/TypeScript • SQLite (WAL Mode) • Open Library API • Deployed to GitHub Pages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SYSTEM REQUIREMENTS &amp; CORE DOMAIN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Problem Statement &amp; The Fundamental Design Choice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The Core Domain Challenge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A library does not lend abstract titles; it lends physical barcoded items placed on distinct shelves.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Naive systems merge catalog entries and physical stock, leading to severe data anomalies and inventory loss.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Circulation demands strict transactional ACID guarantees to eliminate concurrent double-booking.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Students require self-service reservations and loan extensions with duty librarian approval oversight.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Key Design Choice: Title vs. Copy Separation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Book Entity (Metadata): Title, ISBN, Publisher, Category, Authors, Digital Reader/PDF URLs.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Copy Entity (Physical Item): Asset Barcode, Shelf Location, Status ('available', 'on_loan', 'on_hold').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Scalability: 1 title seamlessly scales to 10+ physical copies across library stacks with independent circulation.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Digital Hybrid: Physical copies circulate via barcode transactions while digital editions stream via online e-readers.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ARCHITECTURE DECISION RECORD (ADR)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Technology Stack: Selection Rationale &amp; Advantages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Frontend: React 19 + Apple UI</a:t>
            </a:r>
          </a:p>
          <a:p>
            <a:pPr>
              <a:spcAft>
                <a:spcPts val="1400"/>
              </a:spcAft>
              <a:defRPr sz="1000" b="1">
                <a:solidFill>
                  <a:srgbClr val="0071E3"/>
                </a:solidFill>
              </a:defRPr>
            </a:pPr>
            <a:r>
              <a:t>Apple Dark Glass &amp; Interactive E-Reader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Apple Dark Aesthetics: Apple glass (.apple-glass), SF Pro fonts, and pill buttons.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Fast E-Reader: Direct embedded 2-page reader canvas with 86vh viewport.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Federated OAuth: One-click Sign In with Apple and Google with official brand vector SVGs.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Static Deployment Resilience: In-memory runtime engine enabling full functionality on GitHub Pages.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2900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Backend: Node.js + Express + TS</a:t>
            </a:r>
          </a:p>
          <a:p>
            <a:pPr>
              <a:spcAft>
                <a:spcPts val="1400"/>
              </a:spcAft>
              <a:defRPr sz="1000" b="1">
                <a:solidFill>
                  <a:srgbClr val="8B5CF6"/>
                </a:solidFill>
              </a:defRPr>
            </a:pPr>
            <a:r>
              <a:t>Type Safety &amp; Open API Integration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Full TypeScript Stack: Shared data interfaces between client, server, and schema models.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Open Library Integration: Live ISBN auto-lookup and open-access search for millions of public books.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Bcrypt &amp; JWT Auth: Salted password hashing with signed authorization tokens.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Hold Reaper Worker: Automated 60s background daemon promoting waiting hold queues.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2900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DBMS: Relational Engine (WAL)</a:t>
            </a:r>
          </a:p>
          <a:p>
            <a:pPr>
              <a:spcAft>
                <a:spcPts val="1400"/>
              </a:spcAft>
              <a:defRPr sz="1000" b="1">
                <a:solidFill>
                  <a:srgbClr val="10B981"/>
                </a:solidFill>
              </a:defRPr>
            </a:pPr>
            <a:r>
              <a:t>ACID Transactions &amp; Partial Unique Indexes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Foreign Keys Enforced (PRAGMA foreign_keys = ON): Guaranteed referential integrity.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Write-Ahead Logging (WAL): Concurrency support for concurrent reads and writes.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Partial Unique Indexes: True DBMS constraints (1 active loan per copy, 1 active hold per member).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Audit Trail: Immutable audit_logs table for all checkouts, returns, extensions, and fine settlements.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RELATIONAL DATABASE DESIGN • ENTITY RELATIONSHIPS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Relational Schema &amp; Entity-Relationship Architecture</a:t>
            </a:r>
          </a:p>
        </p:txBody>
      </p:sp>
      <p:pic>
        <p:nvPicPr>
          <p:cNvPr id="4" name="Picture 3" descr="er_diagram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10725912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WORKFLOW IMPLEMENTATION • TRANSACTION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Journey 1: Transactional Checkout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Input &amp; Validation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Librarian scans Member Card (MEM-XXXXX) and Item Barcode. Zod validates payload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Account &amp; Quota Check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Verifies member is 'active' with zero unpaid fines and active loans &lt; max_loans (quota limit).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03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Copy Availability Check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Ensures copy status is 'available' or allocated to this specific borrower via reservation hold.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4856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38BDF8"/>
                </a:solidFill>
              </a:defRPr>
            </a:pPr>
            <a:r>
              <a:t>04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Atomic Lock &amp; Commit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Inserts record into loans, updates copy status to 'on_loan', fulfills holds in one atomic db.transaction().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WORKFLOW IMPLEMENTATION • TRANSACTION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Journey 2: Return Workflow &amp; Hold Queue Promotion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01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Barcode Check-In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Librarian scans returned copy barcode. System locates active loan record where returned_at IS NULL.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5032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38BDF8"/>
                </a:solidFill>
              </a:defRPr>
            </a:pPr>
            <a:r>
              <a:t>02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Dynamic Overdue Calculation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Calculates (returned_at - due_at). If positive, computes fine ($1.00/day) and persists fine_amount.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0071E3"/>
                </a:solidFill>
              </a:defRPr>
            </a:pPr>
            <a:r>
              <a:t>03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Reservation Queue Check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Queries holds for next 'waiting' member ordered by placed_at ASC (First-Come, First-Served).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4856" y="192024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38BDF8"/>
                </a:solidFill>
              </a:defRPr>
            </a:pPr>
            <a:r>
              <a:t>04</a:t>
            </a:r>
          </a:p>
          <a:p>
            <a:pPr>
              <a:spcAft>
                <a:spcPts val="1200"/>
              </a:spcAft>
              <a:defRPr sz="1500" b="1">
                <a:solidFill>
                  <a:srgbClr val="FAFAFA"/>
                </a:solidFill>
              </a:defRPr>
            </a:pPr>
            <a:r>
              <a:t>State Transition</a:t>
            </a:r>
          </a:p>
          <a:p>
            <a:pPr>
              <a:lnSpc>
                <a:spcPct val="120000"/>
              </a:lnSpc>
              <a:defRPr sz="1150">
                <a:solidFill>
                  <a:srgbClr val="A1A1AA"/>
                </a:solidFill>
              </a:defRPr>
            </a:pPr>
            <a:r>
              <a:t>If hold exists: copy status -&gt; 'on_hold', hold -&gt; 'ready_for_pickup' (3-day window). Else: copy -&gt; 'available'.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LENDING EXTENSION &amp; APPROVAL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Loan Extension Application &amp; Librarian Approval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Student / Member Application Flow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Self-Service Application: Members click 'Apply for Extension' in My Account rather than automated renewal.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Academic Justification: Member selects requested window (+7, +14, +21 days) and submits reasoning (exams, thesis).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Instant Dialog Dismissal: Modal auto-dismisses upon submission with reactive UI banner.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Live Lifecycle Badging: Dynamic badge changes to 'Under Librarian Review', 'Extension Approved', or 'Extension Rejected' with librarian notes.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Librarian Approval &amp; Inventory Protection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Librarian Control Desk: Dedicated 'Pending Extension Applications' review queue on librarian dashboard.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Demand &amp; Queue Checks: Librarian inspects borrower history and waiting hold counts before deciding.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Instant Queue Update: Approving/rejecting immediately removes the card from the pending queue.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Quota &amp; Overdue Guard: Blocked if item is already overdue or if 2-extension maximum has been reached.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User Role Architecture: Distinct Views for Every User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Member View (Students)</a:t>
            </a:r>
          </a:p>
          <a:p>
            <a:pPr>
              <a:spcAft>
                <a:spcPts val="1400"/>
              </a:spcAft>
              <a:defRPr sz="1000" b="1">
                <a:solidFill>
                  <a:srgbClr val="0071E3"/>
                </a:solidFill>
              </a:defRPr>
            </a:pPr>
            <a:r>
              <a:t>Self-Service Portal &amp; Reservations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Dedicated Portal: 'My Borrowed &amp; Holds' showing due dates, fine alerts, and queue rank.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Online Reservation: 'Reserve for Library Pickup' with 3-day hold window on available copies.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Extension Applications: Formal loan window prolongation request with live approval feedback.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Open E-Library: Browse open-access books and open full-screen e-readers.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42900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Librarian View (Staff)</a:t>
            </a:r>
          </a:p>
          <a:p>
            <a:pPr>
              <a:spcAft>
                <a:spcPts val="1400"/>
              </a:spcAft>
              <a:defRPr sz="1000" b="1">
                <a:solidFill>
                  <a:srgbClr val="8B5CF6"/>
                </a:solidFill>
              </a:defRPr>
            </a:pPr>
            <a:r>
              <a:t>Inventory Health &amp; Circulation Desk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5 Key Operational Metrics: Total Titles, Shelf Availability %, Active Loans, Ready for Pickup, Extension Requests.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Extension Approval Desk: One-click Approve (+Xd) and Reject interface with student justification view.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Circulation Desk: High-speed barcode scanning interface for atomic Checkouts and Returns.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ISBN Auto-Scanning: Scan or enter ISBN to auto-fetch catalog metadata from Open Library.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42900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29000" cy="73152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8745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AFAFA"/>
                </a:solidFill>
              </a:defRPr>
            </a:pPr>
            <a:r>
              <a:t>Administrator View (IT/Admin)</a:t>
            </a:r>
          </a:p>
          <a:p>
            <a:pPr>
              <a:spcAft>
                <a:spcPts val="1400"/>
              </a:spcAft>
              <a:defRPr sz="1000" b="1">
                <a:solidFill>
                  <a:srgbClr val="10B981"/>
                </a:solidFill>
              </a:defRPr>
            </a:pPr>
            <a:r>
              <a:t>System Governance &amp; Audit Trail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Member Roster: Provision student accounts, mint MEM-XXXXX cards, toggle active/suspended.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Circulation Analytics: Overdue delinquency reports and fine collection tracking ($1/day).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Security Oversight: Role-based authorization rules and password hash verification.</a:t>
            </a:r>
          </a:p>
          <a:p>
            <a:pPr>
              <a:spcAft>
                <a:spcPts val="900"/>
              </a:spcAft>
              <a:defRPr sz="1100">
                <a:solidFill>
                  <a:srgbClr val="A1A1AA"/>
                </a:solidFill>
              </a:defRPr>
            </a:pPr>
            <a:r>
              <a:t>• Audit Ledger: Complete historical trail of all checkout, return, extension, and fine events.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DIGITAL EXTENSION • OPEN SOURCE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Open-Access E-Reader &amp; Global Archive Integration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Open Library &amp; Internet Archive Integration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Public Domain Search: Proxied GET /api/books/open-search queries Open Library's Search API for full-text items.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Direct IA Resolution: Maps Internet Archive identifiers to direct embed streams (https://archive.org/embed/{ia_id}).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Auto-Cataloging: Scanned ISBNs auto-resolve metadata (publishers, edition year, authors, cover images).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Curated Classics: Includes full editions of SICP, Turing (1936), Algorithms, and Computer Organization.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Custom Embedded Reader Experience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Maximized Reading Viewport: Expanded 86vh iframe height and max-w-[1550px] layout.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Embed URL Parameter: Appending ?ui=embed removes redundant headers for a fast, clean book spread.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Multi-Modal Formats: Direct toggle between interactive 2-page e-reader canvas and downloadable PDF edition.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Zero Auth Wall: Free open-access books accessible to guest visitors without mandatory login.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1E3"/>
                </a:solidFill>
              </a:defRPr>
            </a:pPr>
            <a:r>
              <a:t>DEPLOYMENT &amp; PROJECT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AFAFA"/>
                </a:solidFill>
              </a:defRPr>
            </a:pPr>
            <a:r>
              <a:t>System Summary &amp; Verification Details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73152"/>
          </a:xfrm>
          <a:prstGeom prst="round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DBMS Academic Requirements Met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Normalization: Third Normal Form (3NF) relational design with zero data redundancy.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ACID Concurrency: Write-Ahead Logging (WAL), atomic transactions, and partial unique indexes.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Integrity Constraints: ON DELETE CASCADE, CHECK constraints, and non-nullable keys.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Auditability: Immutable circulation ledger tracking every checkout, return, extension, and fine.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418"/>
          </a:solidFill>
          <a:ln w="15240">
            <a:solidFill>
              <a:srgbClr val="2727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73152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920240"/>
            <a:ext cx="4572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FAFAFA"/>
                </a:solidFill>
              </a:defRPr>
            </a:pPr>
            <a:r>
              <a:t>Live Production Deployment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Production App: https://themellowhost.github.io/library-lending-system/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GitHub Repository: https://github.com/themellowhost/library-lending-system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Full Persona Testing: One-click switcher between Member (Alex), Librarian (Elena), and Admin (Marcus).</a:t>
            </a:r>
          </a:p>
          <a:p>
            <a:pPr>
              <a:spcAft>
                <a:spcPts val="1100"/>
              </a:spcAft>
              <a:defRPr sz="1200">
                <a:solidFill>
                  <a:srgbClr val="A1A1AA"/>
                </a:solidFill>
              </a:defRPr>
            </a:pPr>
            <a:r>
              <a:t>• Dual-Mode Architecture: Full operational capability on static hosting via resilient client fallback engine.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