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914400"/>
            <a:ext cx="1371600" cy="73152"/>
          </a:xfrm>
          <a:prstGeom prst="rect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3628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300" b="1">
                <a:solidFill>
                  <a:srgbClr val="0071E3"/>
                </a:solidFill>
              </a:defRPr>
            </a:pPr>
            <a:r>
              <a:t>DBMS SEMESTER 5 • LAB CONTINUOUS ASSESSMENT (LCA)</a:t>
            </a:r>
          </a:p>
          <a:p>
            <a:pPr>
              <a:spcAft>
                <a:spcPts val="1600"/>
              </a:spcAft>
              <a:defRPr sz="4000" b="1">
                <a:solidFill>
                  <a:srgbClr val="FFFFFF"/>
                </a:solidFill>
              </a:defRPr>
            </a:pPr>
            <a:r>
              <a:t>Library Lending System (LiberFlow)</a:t>
            </a:r>
          </a:p>
          <a:p>
            <a:pPr>
              <a:spcAft>
                <a:spcPts val="4000"/>
              </a:spcAft>
              <a:defRPr sz="2000">
                <a:solidFill>
                  <a:srgbClr val="CBD5E1"/>
                </a:solidFill>
              </a:defRPr>
            </a:pPr>
            <a:r>
              <a:t>Relational Modeling, Partial Unique Indexes, ACID Transactions &amp; Apple-Inspired UI</a:t>
            </a:r>
          </a:p>
          <a:p>
            <a:pPr>
              <a:defRPr sz="1400" b="1">
                <a:solidFill>
                  <a:srgbClr val="10B981"/>
                </a:solidFill>
              </a:defRPr>
            </a:pPr>
            <a:r>
              <a:t>Engineered with React 19 • Node.js/TypeScript • Relational SQLite (WAL Mode) • Enforced Foreign Keys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071E3"/>
                </a:solidFill>
              </a:defRPr>
            </a:pPr>
            <a:r>
              <a:t>SYSTEM REQUIREMENTS &amp; CORE DOMAIN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Problem Statement &amp; The Fundamental Design Choice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 b="1">
                <a:solidFill>
                  <a:srgbClr val="4F46E5"/>
                </a:solidFill>
              </a:defRPr>
            </a:pPr>
            <a:r>
              <a:t>The Domain Challenge</a:t>
            </a:r>
          </a:p>
          <a:p>
            <a:pPr>
              <a:spcAft>
                <a:spcPts val="1200"/>
              </a:spcAft>
              <a:defRPr sz="1300">
                <a:solidFill>
                  <a:srgbClr val="0F172A"/>
                </a:solidFill>
              </a:defRPr>
            </a:pPr>
            <a:r>
              <a:t>•  A library does not lend abstract titles; it lends individual physical items with barcodes.</a:t>
            </a:r>
          </a:p>
          <a:p>
            <a:pPr>
              <a:spcAft>
                <a:spcPts val="1200"/>
              </a:spcAft>
              <a:defRPr sz="1300">
                <a:solidFill>
                  <a:srgbClr val="0F172A"/>
                </a:solidFill>
              </a:defRPr>
            </a:pPr>
            <a:r>
              <a:t>•  Naive library systems merge books and inventory, leading to severe data anomalies.</a:t>
            </a:r>
          </a:p>
          <a:p>
            <a:pPr>
              <a:spcAft>
                <a:spcPts val="1200"/>
              </a:spcAft>
              <a:defRPr sz="1300">
                <a:solidFill>
                  <a:srgbClr val="0F172A"/>
                </a:solidFill>
              </a:defRPr>
            </a:pPr>
            <a:r>
              <a:t>•  Requirements encompass 3 distinct user roles: Member, Librarian, and Administrator.</a:t>
            </a:r>
          </a:p>
          <a:p>
            <a:pPr>
              <a:spcAft>
                <a:spcPts val="1200"/>
              </a:spcAft>
              <a:defRPr sz="1300">
                <a:solidFill>
                  <a:srgbClr val="0F172A"/>
                </a:solidFill>
              </a:defRPr>
            </a:pPr>
            <a:r>
              <a:t>•  Circulation needs strict transactional enforcement to avoid concurrent double-booking.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82880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 b="1">
                <a:solidFill>
                  <a:srgbClr val="0071E3"/>
                </a:solidFill>
              </a:defRPr>
            </a:pPr>
            <a:r>
              <a:t>Key Design Choice: Title vs. Copy Separation</a:t>
            </a:r>
          </a:p>
          <a:p>
            <a:pPr>
              <a:spcAft>
                <a:spcPts val="1200"/>
              </a:spcAft>
              <a:defRPr sz="1300">
                <a:solidFill>
                  <a:srgbClr val="0F172A"/>
                </a:solidFill>
              </a:defRPr>
            </a:pPr>
            <a:r>
              <a:t>•  Book Entity (Metadata): Title, ISBN, Publisher, Category, Authors (1-to-many relationship).</a:t>
            </a:r>
          </a:p>
          <a:p>
            <a:pPr>
              <a:spcAft>
                <a:spcPts val="1200"/>
              </a:spcAft>
              <a:defRPr sz="1300">
                <a:solidFill>
                  <a:srgbClr val="0F172A"/>
                </a:solidFill>
              </a:defRPr>
            </a:pPr>
            <a:r>
              <a:t>•  Copy Entity (Physical Item): Barcode, Shelf Location, Lending Status ('available', 'on_loan', 'on_hold').</a:t>
            </a:r>
          </a:p>
          <a:p>
            <a:pPr>
              <a:spcAft>
                <a:spcPts val="1200"/>
              </a:spcAft>
              <a:defRPr sz="1300">
                <a:solidFill>
                  <a:srgbClr val="0F172A"/>
                </a:solidFill>
              </a:defRPr>
            </a:pPr>
            <a:r>
              <a:t>•  Scalability: 1 title can have 10 physical copies across multiple library floors with independent circulation lifecycles.</a:t>
            </a:r>
          </a:p>
          <a:p>
            <a:pPr>
              <a:spcAft>
                <a:spcPts val="1200"/>
              </a:spcAft>
              <a:defRPr sz="1300">
                <a:solidFill>
                  <a:srgbClr val="0F172A"/>
                </a:solidFill>
              </a:defRPr>
            </a:pPr>
            <a:r>
              <a:t>•  Queue Management: Holds are placed at the Title level, but fulfilled by individual available Copies.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071E3"/>
                </a:solidFill>
              </a:defRPr>
            </a:pPr>
            <a:r>
              <a:t>ARCHITECTURE DECISION RECORD (ADR)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Technology Stack: What We Used and Why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64992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290779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0071E3"/>
                </a:solidFill>
              </a:defRPr>
            </a:pPr>
            <a:r>
              <a:t>Frontend: React 19 + Apple UI</a:t>
            </a:r>
          </a:p>
          <a:p>
            <a:pPr>
              <a:spcAft>
                <a:spcPts val="1600"/>
              </a:spcAft>
              <a:defRPr sz="1100">
                <a:solidFill>
                  <a:srgbClr val="64748B"/>
                </a:solidFill>
              </a:defRPr>
            </a:pPr>
            <a:r>
              <a:t>Minimalist Luxury &amp; Component Polish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Apple Design Language: Dark frosted glass (.apple-glass), SF Pro fonts, and pill buttons.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Vite 8: Instant HMR with zero bundling latency for rapid prototyping.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Tailwind CSS v4: Ergonomic utility styling with custom blur filters.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Axios with Bearer Interceptors: Clean JWT auth propagation across all views.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16552" y="1645920"/>
            <a:ext cx="3364992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45152" y="1828800"/>
            <a:ext cx="290779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0071E3"/>
                </a:solidFill>
              </a:defRPr>
            </a:pPr>
            <a:r>
              <a:t>Backend: Node.js + Express + TS</a:t>
            </a:r>
          </a:p>
          <a:p>
            <a:pPr>
              <a:spcAft>
                <a:spcPts val="1600"/>
              </a:spcAft>
              <a:defRPr sz="1100">
                <a:solidFill>
                  <a:srgbClr val="64748B"/>
                </a:solidFill>
              </a:defRPr>
            </a:pPr>
            <a:r>
              <a:t>Type Safety &amp; Clean Micro-Service Boundaries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Full TypeScript Stack: Shared data interfaces between client and server.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Express 5: Lightweight routing and modular separation of concerns.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Zod Validation: Runtime schema validation for barcodes and payloads.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Background Worker: Automatic 60s reaper for expired hold queues.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01584" y="1645920"/>
            <a:ext cx="3364992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30184" y="1828800"/>
            <a:ext cx="290779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0071E3"/>
                </a:solidFill>
              </a:defRPr>
            </a:pPr>
            <a:r>
              <a:t>DBMS: Relational Engine (WAL)</a:t>
            </a:r>
          </a:p>
          <a:p>
            <a:pPr>
              <a:spcAft>
                <a:spcPts val="1600"/>
              </a:spcAft>
              <a:defRPr sz="1100">
                <a:solidFill>
                  <a:srgbClr val="64748B"/>
                </a:solidFill>
              </a:defRPr>
            </a:pPr>
            <a:r>
              <a:t>ACID Guarantees &amp; Partial Unique Indexes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Foreign Keys Enforced (PRAGMA foreign_keys = ON): Guaranteed referential integrity.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Write-Ahead Logging (WAL): Concurrency support for simultaneous reads and writes.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Partial Unique Indexes: True DBMS-level constraints (e.g. 1 active loan per copy).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Immutable Audit Log: Dedicated audit_logs table for all state transitions.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071E3"/>
                </a:solidFill>
              </a:defRPr>
            </a:pPr>
            <a:r>
              <a:t>RELATIONAL DATABASE DESIGN • ENTITY RELATIONSHIPS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Relational Schema &amp; Entity-Relationship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55648"/>
            <a:ext cx="4754880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0071E3"/>
                </a:solidFill>
              </a:defRPr>
            </a:pPr>
            <a:r>
              <a:t>users &amp; members (1 : 1)</a:t>
            </a:r>
          </a:p>
          <a:p>
            <a:pPr>
              <a:spcAft>
                <a:spcPts val="200"/>
              </a:spcAft>
              <a:defRPr sz="1100">
                <a:solidFill>
                  <a:srgbClr val="0F172A"/>
                </a:solidFill>
              </a:defRPr>
            </a:pPr>
            <a:r>
              <a:t>users (id, email, password_hash, role) ───&lt; members (id, user_id, member_number, max_loans, status)</a:t>
            </a:r>
          </a:p>
          <a:p>
            <a:pPr>
              <a:defRPr sz="1000" b="1">
                <a:solidFill>
                  <a:srgbClr val="9D4EDD"/>
                </a:solidFill>
              </a:defRPr>
            </a:pPr>
            <a:r>
              <a:t>🔒 Foreign Key: user_id -&gt; users(id) ON DELETE CASCADE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755648"/>
            <a:ext cx="4754880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0071E3"/>
                </a:solidFill>
              </a:defRPr>
            </a:pPr>
            <a:r>
              <a:t>books &amp; categories (N : 1)</a:t>
            </a:r>
          </a:p>
          <a:p>
            <a:pPr>
              <a:spcAft>
                <a:spcPts val="200"/>
              </a:spcAft>
              <a:defRPr sz="1100">
                <a:solidFill>
                  <a:srgbClr val="0F172A"/>
                </a:solidFill>
              </a:defRPr>
            </a:pPr>
            <a:r>
              <a:t>categories (id, name) ───&lt; books (id, isbn, title, category_id, publisher, published_year)</a:t>
            </a:r>
          </a:p>
          <a:p>
            <a:pPr>
              <a:defRPr sz="1000" b="1">
                <a:solidFill>
                  <a:srgbClr val="9D4EDD"/>
                </a:solidFill>
              </a:defRPr>
            </a:pPr>
            <a:r>
              <a:t>🔒 Foreign Key: category_id -&gt; categories(id) ON DELETE SET NULL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246120"/>
            <a:ext cx="512064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355848"/>
            <a:ext cx="4754880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0071E3"/>
                </a:solidFill>
              </a:defRPr>
            </a:pPr>
            <a:r>
              <a:t>books &amp; authors (M : N Junction)</a:t>
            </a:r>
          </a:p>
          <a:p>
            <a:pPr>
              <a:spcAft>
                <a:spcPts val="200"/>
              </a:spcAft>
              <a:defRPr sz="1100">
                <a:solidFill>
                  <a:srgbClr val="0F172A"/>
                </a:solidFill>
              </a:defRPr>
            </a:pPr>
            <a:r>
              <a:t>books ───&lt; book_authors (book_id, author_id) &gt;─── authors (id, name)</a:t>
            </a:r>
          </a:p>
          <a:p>
            <a:pPr>
              <a:defRPr sz="1000" b="1">
                <a:solidFill>
                  <a:srgbClr val="9D4EDD"/>
                </a:solidFill>
              </a:defRPr>
            </a:pPr>
            <a:r>
              <a:t>🔒 Composite Primary Key: (book_id, author_id) with CASCADE deletes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246120"/>
            <a:ext cx="512064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3355848"/>
            <a:ext cx="4754880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0071E3"/>
                </a:solidFill>
              </a:defRPr>
            </a:pPr>
            <a:r>
              <a:t>books &amp; copies (1 : N Inventory)</a:t>
            </a:r>
          </a:p>
          <a:p>
            <a:pPr>
              <a:spcAft>
                <a:spcPts val="200"/>
              </a:spcAft>
              <a:defRPr sz="1100">
                <a:solidFill>
                  <a:srgbClr val="0F172A"/>
                </a:solidFill>
              </a:defRPr>
            </a:pPr>
            <a:r>
              <a:t>books (id) ───&lt; copies (id, book_id, barcode, status, location)</a:t>
            </a:r>
          </a:p>
          <a:p>
            <a:pPr>
              <a:defRPr sz="1000" b="1">
                <a:solidFill>
                  <a:srgbClr val="9D4EDD"/>
                </a:solidFill>
              </a:defRPr>
            </a:pPr>
            <a:r>
              <a:t>🔒 copies.barcode UNIQUE • status IN ('available','on_loan','on_hold')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846320"/>
            <a:ext cx="512064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956048"/>
            <a:ext cx="4754880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0071E3"/>
                </a:solidFill>
              </a:defRPr>
            </a:pPr>
            <a:r>
              <a:t>copies, members &amp; loans (Circulation)</a:t>
            </a:r>
          </a:p>
          <a:p>
            <a:pPr>
              <a:spcAft>
                <a:spcPts val="200"/>
              </a:spcAft>
              <a:defRPr sz="1100">
                <a:solidFill>
                  <a:srgbClr val="0F172A"/>
                </a:solidFill>
              </a:defRPr>
            </a:pPr>
            <a:r>
              <a:t>copies (id) + members (id) ───&lt; loans (id, copy_id, member_id, due_at, returned_at, fine_amount)</a:t>
            </a:r>
          </a:p>
          <a:p>
            <a:pPr>
              <a:defRPr sz="1000" b="1">
                <a:solidFill>
                  <a:srgbClr val="9D4EDD"/>
                </a:solidFill>
              </a:defRPr>
            </a:pPr>
            <a:r>
              <a:t>🔒 PARTIAL UNIQUE INDEX: unique_active_loan_per_copy WHERE returned_at IS NULL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846320"/>
            <a:ext cx="512064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4956048"/>
            <a:ext cx="4754880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0071E3"/>
                </a:solidFill>
              </a:defRPr>
            </a:pPr>
            <a:r>
              <a:t>holds &amp; audit_logs (Queues &amp; Ledgers)</a:t>
            </a:r>
          </a:p>
          <a:p>
            <a:pPr>
              <a:spcAft>
                <a:spcPts val="200"/>
              </a:spcAft>
              <a:defRPr sz="1100">
                <a:solidFill>
                  <a:srgbClr val="0F172A"/>
                </a:solidFill>
              </a:defRPr>
            </a:pPr>
            <a:r>
              <a:t>holds (book_id, member_id, allocated_copy_id, status) + audit_logs (action, details)</a:t>
            </a:r>
          </a:p>
          <a:p>
            <a:pPr>
              <a:defRPr sz="1000" b="1">
                <a:solidFill>
                  <a:srgbClr val="9D4EDD"/>
                </a:solidFill>
              </a:defRPr>
            </a:pPr>
            <a:r>
              <a:t>🔒 PARTIAL UNIQUE INDEX: unique_active_hold_per_member_book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071E3"/>
                </a:solidFill>
              </a:defRPr>
            </a:pPr>
            <a:r>
              <a:t>WORKFLOW IMPLEMENTATION • TRANSACTION 1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Journey 1: Transactional Checkout Workflow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24688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011680"/>
            <a:ext cx="548640" cy="548640"/>
          </a:xfrm>
          <a:prstGeom prst="ellipse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743200"/>
            <a:ext cx="2011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0F172A"/>
                </a:solidFill>
              </a:defRPr>
            </a:pPr>
            <a:r>
              <a:t>Input &amp; Validation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Librarian enters Member ID/Barcode and Copy Barcode. Zod validates payload format.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83864" y="1737360"/>
            <a:ext cx="24688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758184" y="2011680"/>
            <a:ext cx="548640" cy="548640"/>
          </a:xfrm>
          <a:prstGeom prst="ellipse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12464" y="2743200"/>
            <a:ext cx="2011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0F172A"/>
                </a:solidFill>
              </a:defRPr>
            </a:pPr>
            <a:r>
              <a:t>Member Status Verification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Verifies member.status == 'active'. Suspended or expired members immediately rejected.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8" y="1737360"/>
            <a:ext cx="24688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510528" y="2011680"/>
            <a:ext cx="548640" cy="548640"/>
          </a:xfrm>
          <a:prstGeom prst="ellipse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4808" y="2743200"/>
            <a:ext cx="2011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0F172A"/>
                </a:solidFill>
              </a:defRPr>
            </a:pPr>
            <a:r>
              <a:t>Borrowing Limit Enforcement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Counts active loans. If active &gt;= max_loans (e.g. 5), transaction aborts with informative error.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88552" y="1737360"/>
            <a:ext cx="24688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262872" y="2011680"/>
            <a:ext cx="548640" cy="548640"/>
          </a:xfrm>
          <a:prstGeom prst="ellipse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17152" y="2743200"/>
            <a:ext cx="2011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0F172A"/>
                </a:solidFill>
              </a:defRPr>
            </a:pPr>
            <a:r>
              <a:t>Atomic Lock &amp; Commit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Inserts record into loans, transitions copy status to 'on_loan', fulfills holds in one atomic db.transaction().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071E3"/>
                </a:solidFill>
              </a:defRPr>
            </a:pPr>
            <a:r>
              <a:t>WORKFLOW IMPLEMENTATION • TRANSACTION 2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Journey 2: Return Workflow &amp; Hold Queue Promotion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24688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011680"/>
            <a:ext cx="548640" cy="548640"/>
          </a:xfrm>
          <a:prstGeom prst="ellipse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743200"/>
            <a:ext cx="2011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0F172A"/>
                </a:solidFill>
              </a:defRPr>
            </a:pPr>
            <a:r>
              <a:t>Barcode Check-In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Librarian scans returned copy barcode. System locates active loan record where returned_at IS NULL.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83864" y="1737360"/>
            <a:ext cx="24688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758184" y="2011680"/>
            <a:ext cx="548640" cy="548640"/>
          </a:xfrm>
          <a:prstGeom prst="ellipse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12464" y="2743200"/>
            <a:ext cx="2011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0F172A"/>
                </a:solidFill>
              </a:defRPr>
            </a:pPr>
            <a:r>
              <a:t>Dynamic Overdue Calculation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Calculates (returned_at - due_at). If positive, computes fine ($1.00/day) and persists fine_amount.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8" y="1737360"/>
            <a:ext cx="24688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510528" y="2011680"/>
            <a:ext cx="548640" cy="548640"/>
          </a:xfrm>
          <a:prstGeom prst="ellipse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4808" y="2743200"/>
            <a:ext cx="2011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0F172A"/>
                </a:solidFill>
              </a:defRPr>
            </a:pPr>
            <a:r>
              <a:t>Reservation Queue Check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Queries holds for next 'waiting' member ordered by placed_at ASC (First-Come, First-Served).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88552" y="1737360"/>
            <a:ext cx="24688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262872" y="2011680"/>
            <a:ext cx="548640" cy="548640"/>
          </a:xfrm>
          <a:prstGeom prst="ellipse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17152" y="2743200"/>
            <a:ext cx="2011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0F172A"/>
                </a:solidFill>
              </a:defRPr>
            </a:pPr>
            <a:r>
              <a:t>State Transition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If hold exists: copy status -&gt; 'on_hold', hold -&gt; 'ready_for_pickup' (3-day window). Else: copy -&gt; 'available'.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071E3"/>
                </a:solidFill>
              </a:defRPr>
            </a:pPr>
            <a:r>
              <a:t>ADVANCED EXTENSIONS • RENEWALS &amp; REAPERS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Self-Service Loan Renewal &amp; Automated Hold Reaper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 b="1">
                <a:solidFill>
                  <a:srgbClr val="4F46E5"/>
                </a:solidFill>
              </a:defRPr>
            </a:pPr>
            <a:r>
              <a:t>Conditional Self-Service Renewal (+7 Days)</a:t>
            </a:r>
          </a:p>
          <a:p>
            <a:pPr>
              <a:spcAft>
                <a:spcPts val="1200"/>
              </a:spcAft>
              <a:defRPr sz="1300">
                <a:solidFill>
                  <a:srgbClr val="0F172A"/>
                </a:solidFill>
              </a:defRPr>
            </a:pPr>
            <a:r>
              <a:t>•  Endpoint: POST /api/loans/:id/renew with strict multi-condition transaction checks.</a:t>
            </a:r>
          </a:p>
          <a:p>
            <a:pPr>
              <a:spcAft>
                <a:spcPts val="1200"/>
              </a:spcAft>
              <a:defRPr sz="1300">
                <a:solidFill>
                  <a:srgbClr val="0F172A"/>
                </a:solidFill>
              </a:defRPr>
            </a:pPr>
            <a:r>
              <a:t>•  Rule 1: Overdue Prohibition — If current date &gt; due_at, renewal is blocked with late fee warning.</a:t>
            </a:r>
          </a:p>
          <a:p>
            <a:pPr>
              <a:spcAft>
                <a:spcPts val="1200"/>
              </a:spcAft>
              <a:defRPr sz="1300">
                <a:solidFill>
                  <a:srgbClr val="0F172A"/>
                </a:solidFill>
              </a:defRPr>
            </a:pPr>
            <a:r>
              <a:t>•  Rule 2: Quota Limit — Maximum 2 renewals permitted per loan record (tracked via renewal_count).</a:t>
            </a:r>
          </a:p>
          <a:p>
            <a:pPr>
              <a:spcAft>
                <a:spcPts val="1200"/>
              </a:spcAft>
              <a:defRPr sz="1300">
                <a:solidFill>
                  <a:srgbClr val="0F172A"/>
                </a:solidFill>
              </a:defRPr>
            </a:pPr>
            <a:r>
              <a:t>•  Rule 3: Queue Priority Protection — If other students have placed holds on the book title, renewal is rejected to prevent starvation.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82880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 b="1">
                <a:solidFill>
                  <a:srgbClr val="0071E3"/>
                </a:solidFill>
              </a:defRPr>
            </a:pPr>
            <a:r>
              <a:t>Automated Hold Expiration Background Worker</a:t>
            </a:r>
          </a:p>
          <a:p>
            <a:pPr>
              <a:spcAft>
                <a:spcPts val="1200"/>
              </a:spcAft>
              <a:defRPr sz="1300">
                <a:solidFill>
                  <a:srgbClr val="0F172A"/>
                </a:solidFill>
              </a:defRPr>
            </a:pPr>
            <a:r>
              <a:t>•  Worker Function: reapExpiredHolds() executed every 60 seconds via background timer.</a:t>
            </a:r>
          </a:p>
          <a:p>
            <a:pPr>
              <a:spcAft>
                <a:spcPts val="1200"/>
              </a:spcAft>
              <a:defRPr sz="1300">
                <a:solidFill>
                  <a:srgbClr val="0F172A"/>
                </a:solidFill>
              </a:defRPr>
            </a:pPr>
            <a:r>
              <a:t>•  Expiration Detection: Queries holds WHERE status = 'ready_for_pickup' AND datetime('now') &gt; datetime(expires_at).</a:t>
            </a:r>
          </a:p>
          <a:p>
            <a:pPr>
              <a:spcAft>
                <a:spcPts val="1200"/>
              </a:spcAft>
              <a:defRPr sz="1300">
                <a:solidFill>
                  <a:srgbClr val="0F172A"/>
                </a:solidFill>
              </a:defRPr>
            </a:pPr>
            <a:r>
              <a:t>•  Automatic Re-allocation: Transitions delinquent hold to 'expired' and immediately assigns the physical copy to the NEXT student in queue.</a:t>
            </a:r>
          </a:p>
          <a:p>
            <a:pPr>
              <a:spcAft>
                <a:spcPts val="1200"/>
              </a:spcAft>
              <a:defRPr sz="1300">
                <a:solidFill>
                  <a:srgbClr val="0F172A"/>
                </a:solidFill>
              </a:defRPr>
            </a:pPr>
            <a:r>
              <a:t>•  Inventory Fallback: If no other student is waiting, copy status automatically reverts to 'available' on shelf.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071E3"/>
                </a:solidFill>
              </a:defRPr>
            </a:pPr>
            <a:r>
              <a:t>FRONTEND &amp; USER EXPERIENCE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Apple Website UI: Member Portal &amp; Circulation Desk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 b="1">
                <a:solidFill>
                  <a:srgbClr val="4F46E5"/>
                </a:solidFill>
              </a:defRPr>
            </a:pPr>
            <a:r>
              <a:t>Member Experience Portal</a:t>
            </a:r>
          </a:p>
          <a:p>
            <a:pPr>
              <a:spcAft>
                <a:spcPts val="1200"/>
              </a:spcAft>
              <a:defRPr sz="1300">
                <a:solidFill>
                  <a:srgbClr val="0F172A"/>
                </a:solidFill>
              </a:defRPr>
            </a:pPr>
            <a:r>
              <a:t>•  Hero Catalog Search: Instant debounced filtering across titles, authors, categories, and ISBNs.</a:t>
            </a:r>
          </a:p>
          <a:p>
            <a:pPr>
              <a:spcAft>
                <a:spcPts val="1200"/>
              </a:spcAft>
              <a:defRPr sz="1300">
                <a:solidFill>
                  <a:srgbClr val="0F172A"/>
                </a:solidFill>
              </a:defRPr>
            </a:pPr>
            <a:r>
              <a:t>•  Active Loans &amp; Renewal: Student can monitor due dates, overdue fines, and renew eligible books in 1 click.</a:t>
            </a:r>
          </a:p>
          <a:p>
            <a:pPr>
              <a:spcAft>
                <a:spcPts val="1200"/>
              </a:spcAft>
              <a:defRPr sz="1300">
                <a:solidFill>
                  <a:srgbClr val="0F172A"/>
                </a:solidFill>
              </a:defRPr>
            </a:pPr>
            <a:r>
              <a:t>•  Hold Queue Visibility: Displays real-time queue position and 3-day pickup countdown window.</a:t>
            </a:r>
          </a:p>
          <a:p>
            <a:pPr>
              <a:spcAft>
                <a:spcPts val="1200"/>
              </a:spcAft>
              <a:defRPr sz="1300">
                <a:solidFill>
                  <a:srgbClr val="0F172A"/>
                </a:solidFill>
              </a:defRPr>
            </a:pPr>
            <a:r>
              <a:t>•  Defensive Self-Service: Member can cancel waiting reservations at any time.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82880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 b="1">
                <a:solidFill>
                  <a:srgbClr val="0071E3"/>
                </a:solidFill>
              </a:defRPr>
            </a:pPr>
            <a:r>
              <a:t>Librarian Administration &amp; Desk</a:t>
            </a:r>
          </a:p>
          <a:p>
            <a:pPr>
              <a:spcAft>
                <a:spcPts val="1200"/>
              </a:spcAft>
              <a:defRPr sz="1300">
                <a:solidFill>
                  <a:srgbClr val="0F172A"/>
                </a:solidFill>
              </a:defRPr>
            </a:pPr>
            <a:r>
              <a:t>•  Segmented Circulation Desk: Instant macOS-style switching between barcode Checkout and Return.</a:t>
            </a:r>
          </a:p>
          <a:p>
            <a:pPr>
              <a:spcAft>
                <a:spcPts val="1200"/>
              </a:spcAft>
              <a:defRPr sz="1300">
                <a:solidFill>
                  <a:srgbClr val="0F172A"/>
                </a:solidFill>
              </a:defRPr>
            </a:pPr>
            <a:r>
              <a:t>•  Fine Collection Terminal: One-click collection and receipt ledger marking fine_paid = 1.</a:t>
            </a:r>
          </a:p>
          <a:p>
            <a:pPr>
              <a:spcAft>
                <a:spcPts val="1200"/>
              </a:spcAft>
              <a:defRPr sz="1300">
                <a:solidFill>
                  <a:srgbClr val="0F172A"/>
                </a:solidFill>
              </a:defRPr>
            </a:pPr>
            <a:r>
              <a:t>•  Member Enrollment &amp; Status: Registration form auto-generating unique member numbers with toggleable suspension.</a:t>
            </a:r>
          </a:p>
          <a:p>
            <a:pPr>
              <a:spcAft>
                <a:spcPts val="1200"/>
              </a:spcAft>
              <a:defRPr sz="1300">
                <a:solidFill>
                  <a:srgbClr val="0F172A"/>
                </a:solidFill>
              </a:defRPr>
            </a:pPr>
            <a:r>
              <a:t>•  Immutable Audit Trail: Live table streaming all system events (CHECKOUT, RETURN, RENEWAL, FINE_PAID).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071E3"/>
                </a:solidFill>
              </a:defRPr>
            </a:pPr>
            <a:r>
              <a:t>VERIFICATION &amp; DEFENSIVE DESIGN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Edge Case Handling &amp; Relational Integrity Tests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64992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290779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0071E3"/>
                </a:solidFill>
              </a:defRPr>
            </a:pPr>
            <a:r>
              <a:t>Double Checkout Prevention</a:t>
            </a:r>
          </a:p>
          <a:p>
            <a:pPr>
              <a:spcAft>
                <a:spcPts val="1600"/>
              </a:spcAft>
              <a:defRPr sz="1100">
                <a:solidFill>
                  <a:srgbClr val="64748B"/>
                </a:solidFill>
              </a:defRPr>
            </a:pPr>
            <a:r>
              <a:t>Partial Unique Index in Action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Attempting to check out an already loaned barcode triggers immediate transaction abort.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Database-level partial unique index ensures zero race condition vulnerability.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Explicit error message returned to desk: 'Copy is already on loan to another borrower.'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16552" y="1645920"/>
            <a:ext cx="3364992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45152" y="1828800"/>
            <a:ext cx="290779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0071E3"/>
                </a:solidFill>
              </a:defRPr>
            </a:pPr>
            <a:r>
              <a:t>Account &amp; Quota Constraints</a:t>
            </a:r>
          </a:p>
          <a:p>
            <a:pPr>
              <a:spcAft>
                <a:spcPts val="1600"/>
              </a:spcAft>
              <a:defRPr sz="1100">
                <a:solidFill>
                  <a:srgbClr val="64748B"/>
                </a:solidFill>
              </a:defRPr>
            </a:pPr>
            <a:r>
              <a:t>Enforcing Library Policy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Suspended Member Test: System blocks checkout attempt with status warning.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Max Quota Reached: Member at 5/5 active loans blocked until a prior copy is checked back in.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Duplicate Hold Block: Rejects attempt to place simultaneous duplicate reservations on the same title.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01584" y="1645920"/>
            <a:ext cx="3364992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30184" y="1828800"/>
            <a:ext cx="290779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0071E3"/>
                </a:solidFill>
              </a:defRPr>
            </a:pPr>
            <a:r>
              <a:t>Idempotent Returns &amp; Queue Progression</a:t>
            </a:r>
          </a:p>
          <a:p>
            <a:pPr>
              <a:spcAft>
                <a:spcPts val="1600"/>
              </a:spcAft>
              <a:defRPr sz="1100">
                <a:solidFill>
                  <a:srgbClr val="64748B"/>
                </a:solidFill>
              </a:defRPr>
            </a:pPr>
            <a:r>
              <a:t>Safe Re-entry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Returning an already returned item gracefully flags 'No active loan found for copy'.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Automatic hold promotion test: Returned copy instantly transitions to 'on_hold' for top waiting member.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Canceling a hold with allocated copy automatically releases inventory back to 'available'.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071E3"/>
                </a:solidFill>
              </a:defRPr>
            </a:pPr>
            <a:r>
              <a:t>SUMMARY &amp; FUTURE ENHANCEMENTS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Project Summary, Key Takeaways &amp; Roadmap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 b="1">
                <a:solidFill>
                  <a:srgbClr val="4F46E5"/>
                </a:solidFill>
              </a:defRPr>
            </a:pPr>
            <a:r>
              <a:t>Core DBMS Takeaways</a:t>
            </a:r>
          </a:p>
          <a:p>
            <a:pPr>
              <a:spcAft>
                <a:spcPts val="1200"/>
              </a:spcAft>
              <a:defRPr sz="1300">
                <a:solidFill>
                  <a:srgbClr val="0F172A"/>
                </a:solidFill>
              </a:defRPr>
            </a:pPr>
            <a:r>
              <a:t>•  Domain Realism: Decoupling titles from physical copies is the golden standard for lending systems.</a:t>
            </a:r>
          </a:p>
          <a:p>
            <a:pPr>
              <a:spcAft>
                <a:spcPts val="1200"/>
              </a:spcAft>
              <a:defRPr sz="1300">
                <a:solidFill>
                  <a:srgbClr val="0F172A"/>
                </a:solidFill>
              </a:defRPr>
            </a:pPr>
            <a:r>
              <a:t>•  ACID over Client-Side Checks: Enforcing consistency inside database transactions prevents phantom states.</a:t>
            </a:r>
          </a:p>
          <a:p>
            <a:pPr>
              <a:spcAft>
                <a:spcPts val="1200"/>
              </a:spcAft>
              <a:defRPr sz="1300">
                <a:solidFill>
                  <a:srgbClr val="0F172A"/>
                </a:solidFill>
              </a:defRPr>
            </a:pPr>
            <a:r>
              <a:t>•  Indexes Matter: Partial unique indexes provide bulletproof business constraints without heavy table triggers.</a:t>
            </a:r>
          </a:p>
          <a:p>
            <a:pPr>
              <a:spcAft>
                <a:spcPts val="1200"/>
              </a:spcAft>
              <a:defRPr sz="1300">
                <a:solidFill>
                  <a:srgbClr val="0F172A"/>
                </a:solidFill>
              </a:defRPr>
            </a:pPr>
            <a:r>
              <a:t>•  Full-Stack Synergy: TypeScript end-to-end creates reliable contracts between React UI and the SQL engine.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82880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 b="1">
                <a:solidFill>
                  <a:srgbClr val="0071E3"/>
                </a:solidFill>
              </a:defRPr>
            </a:pPr>
            <a:r>
              <a:t>Future Production Roadmap</a:t>
            </a:r>
          </a:p>
          <a:p>
            <a:pPr>
              <a:spcAft>
                <a:spcPts val="1200"/>
              </a:spcAft>
              <a:defRPr sz="1300">
                <a:solidFill>
                  <a:srgbClr val="0F172A"/>
                </a:solidFill>
              </a:defRPr>
            </a:pPr>
            <a:r>
              <a:t>•  Automated Notification Workers: Background cron jobs with SendGrid/Twilio for pickup reminders.</a:t>
            </a:r>
          </a:p>
          <a:p>
            <a:pPr>
              <a:spcAft>
                <a:spcPts val="1200"/>
              </a:spcAft>
              <a:defRPr sz="1300">
                <a:solidFill>
                  <a:srgbClr val="0F172A"/>
                </a:solidFill>
              </a:defRPr>
            </a:pPr>
            <a:r>
              <a:t>•  Hardware Integration: Direct USB HID barcode and RFID scanner integration for kiosk self-checkouts.</a:t>
            </a:r>
          </a:p>
          <a:p>
            <a:pPr>
              <a:spcAft>
                <a:spcPts val="1200"/>
              </a:spcAft>
              <a:defRPr sz="1300">
                <a:solidFill>
                  <a:srgbClr val="0F172A"/>
                </a:solidFill>
              </a:defRPr>
            </a:pPr>
            <a:r>
              <a:t>•  Digital Fine Payments: Stripe webhook integration to clear overdue balances online.</a:t>
            </a:r>
          </a:p>
          <a:p>
            <a:pPr>
              <a:spcAft>
                <a:spcPts val="1200"/>
              </a:spcAft>
              <a:defRPr sz="1300">
                <a:solidFill>
                  <a:srgbClr val="0F172A"/>
                </a:solidFill>
              </a:defRPr>
            </a:pPr>
            <a:r>
              <a:t>•  Multi-Branch Transfers: Extending copies table with branch_id for inter-library loan transit.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