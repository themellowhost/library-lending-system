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371600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0071E3"/>
                </a:solidFill>
              </a:defRPr>
            </a:pPr>
            <a:r>
              <a:t>DBMS SEMESTER 5 • LAB CONTINUOUS ASSESSMENT (LCA)</a:t>
            </a:r>
          </a:p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</a:defRPr>
            </a:pPr>
            <a:r>
              <a:t>Library Lending System (LiberFlow)</a:t>
            </a:r>
          </a:p>
          <a:p>
            <a:pPr>
              <a:spcAft>
                <a:spcPts val="3600"/>
              </a:spcAft>
              <a:defRPr sz="2000">
                <a:solidFill>
                  <a:srgbClr val="A1A1AA"/>
                </a:solidFill>
              </a:defRPr>
            </a:pPr>
            <a:r>
              <a:t>Relational Modeling, Open-Access E-Reader, Federated OAuth &amp; Apple-Inspired UI</a:t>
            </a:r>
          </a:p>
          <a:p>
            <a:pPr>
              <a:defRPr sz="1200">
                <a:solidFill>
                  <a:srgbClr val="71717A"/>
                </a:solidFill>
              </a:defRPr>
            </a:pPr>
            <a:r>
              <a:t>Engineered with React 19 • Node.js/TypeScript • SQLite (WAL Mode) • Open Library API • Deployed to GitHub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SYSTEM REQUIREMENTS &amp; CORE DOMAIN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Problem Statement &amp; The Fundamental Design Choice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The Domain Challenge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A library does not lend abstract titles; it lends individual physical items with barcodes.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Naive library systems merge books and inventory, leading to severe data anomalies.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Requirements encompass 3 distinct user roles: Member, Librarian, and Administrator.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Circulation needs strict transactional enforcement to avoid concurrent double-booking.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Key Design Choice: Title vs. Copy Separation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Book Entity (Metadata): Title, ISBN, Publisher, Category, Authors, Digital Reader/PDF URLs.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Copy Entity (Physical Item): Barcode, Shelf Location, Lending Status ('available', 'on_loan', 'on_hold').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Scalability: 1 title can have 10 physical copies across multiple library floors with independent circulation lifecycles.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Digital Hybrid: Physical copies circulate via barcode transactions while digital editions stream via online readers.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ARCHITECTURE DECISION RECORD (ADR)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Technology Stack: What We Used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7315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Frontend: React 19 + Apple UI</a:t>
            </a:r>
          </a:p>
          <a:p>
            <a:pPr>
              <a:spcAft>
                <a:spcPts val="1400"/>
              </a:spcAft>
              <a:defRPr sz="1000" b="1">
                <a:solidFill>
                  <a:srgbClr val="0071E3"/>
                </a:solidFill>
              </a:defRPr>
            </a:pPr>
            <a:r>
              <a:t>Apple Dark Glass &amp; Interactive E-Reader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Apple Design Language: Dark frosted glass (.apple-glass), SF Pro fonts, and pill buttons.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Interactive Digital E-Reader: Fast-embedded 2-page reader canvas with theater fullscreen mode.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Federated OAuth: One-click Sign In with Apple and Google with official brand SVGs.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Dual-Mode Resilience: Instant client-side fallback store enabling seamless static GitHub Pages hosting.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2900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745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Backend: Node.js + Express + TS</a:t>
            </a:r>
          </a:p>
          <a:p>
            <a:pPr>
              <a:spcAft>
                <a:spcPts val="1400"/>
              </a:spcAft>
              <a:defRPr sz="1000" b="1">
                <a:solidFill>
                  <a:srgbClr val="4F46E5"/>
                </a:solidFill>
              </a:defRPr>
            </a:pPr>
            <a:r>
              <a:t>Type Safety &amp; Open API Integration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Full TypeScript Stack: Shared data interfaces between client and server.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Open Library Integration: Live search proxy querying millions of public-domain books.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Bcrypt &amp; JWT Auth: Industry-standard 10-round salted password hashing with signed tokens.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Background Worker: Automatic 60s reaper for expired hold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DBMS: Relational Engine (WAL)</a:t>
            </a:r>
          </a:p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ACID Guarantees &amp; Partial Unique Indexes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Foreign Keys Enforced (PRAGMA foreign_keys = ON): Guaranteed referential integrity.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Write-Ahead Logging (WAL): Concurrency support for simultaneous reads and writes.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Partial Unique Indexes: True DBMS-level constraints (e.g. 1 active loan per copy).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Immutable Audit Log: Dedicated audit_logs table for all checkout, return, and renewal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RELATIONAL DATABASE DESIGN • ENTITY RELATIONSHIPS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Relational Schema &amp; Entity-Relationship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" cy="219456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users &amp; members (1 : 1)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users (id, email, password_hash, role) ───&lt; members (id, user_id, member_number, max_loans, status)</a:t>
            </a:r>
          </a:p>
          <a:p>
            <a:pPr>
              <a:defRPr sz="900" b="1">
                <a:solidFill>
                  <a:srgbClr val="0071E3"/>
                </a:solidFill>
              </a:defRPr>
            </a:pPr>
            <a:r>
              <a:t>Constraint: Foreign Key: user_id -&gt; users(id) ON DELETE CASCADE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73152" cy="2194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books &amp; categories (N : 1)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categories (id, name) ───&lt; books (id, isbn, title, category_id, cover_image_url, pdf_url, reader_url)</a:t>
            </a:r>
          </a:p>
          <a:p>
            <a:pPr>
              <a:defRPr sz="900" b="1">
                <a:solidFill>
                  <a:srgbClr val="4F46E5"/>
                </a:solidFill>
              </a:defRPr>
            </a:pPr>
            <a:r>
              <a:t>Constraint: Foreign Key: category_id -&gt; categories(id) ON DELETE SET 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73152" cy="2194560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books &amp; authors (M : N Junction)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books ───&lt; book_authors (book_id, author_id) &gt;─── authors (id, name)</a:t>
            </a:r>
          </a:p>
          <a:p>
            <a:pPr>
              <a:defRPr sz="900" b="1">
                <a:solidFill>
                  <a:srgbClr val="9D4EDD"/>
                </a:solidFill>
              </a:defRPr>
            </a:pPr>
            <a:r>
              <a:t>Constraint: Composite Primary Key: (book_id, author_id) with CASCADE deletes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73152" cy="219456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books &amp; copies (1 : N Inventory)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books (id) ───&lt; copies (id, book_id, barcode, status, location)</a:t>
            </a:r>
          </a:p>
          <a:p>
            <a:pPr>
              <a:defRPr sz="900" b="1">
                <a:solidFill>
                  <a:srgbClr val="0071E3"/>
                </a:solidFill>
              </a:defRPr>
            </a:pPr>
            <a:r>
              <a:t>Constraint: copies.barcode UNIQUE • status IN ('available','on_loan','on_hold','lost')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690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4069080"/>
            <a:ext cx="73152" cy="2194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2519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copies, members &amp; loans (Circulation)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copies (id) + members (id) ───&lt; loans (id, copy_id, member_id, due_at, renewal_count, fine_amount)</a:t>
            </a:r>
          </a:p>
          <a:p>
            <a:pPr>
              <a:defRPr sz="900" b="1">
                <a:solidFill>
                  <a:srgbClr val="4F46E5"/>
                </a:solidFill>
              </a:defRPr>
            </a:pPr>
            <a:r>
              <a:t>Constraint: PARTIAL UNIQUE INDEX: unique_active_loan_per_copy WHERE returned_at IS NULL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690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4069080"/>
            <a:ext cx="73152" cy="2194560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2519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holds &amp; audit_logs (Queues &amp; Ledgers)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holds (book_id, member_id, allocated_copy_id, status) + audit_logs (action, details)</a:t>
            </a:r>
          </a:p>
          <a:p>
            <a:pPr>
              <a:defRPr sz="900" b="1">
                <a:solidFill>
                  <a:srgbClr val="9D4EDD"/>
                </a:solidFill>
              </a:defRPr>
            </a:pPr>
            <a:r>
              <a:t>Constraint: PARTIAL UNIQUE INDEX: unique_active_hold_per_member_book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WORKFLOW IMPLEMENTATION • TRANSACTION 1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Journey 1: Transactional Checkout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071E3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Input &amp; Validation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Librarian enters Member ID/Barcode and Copy Barcode. Zod validates payload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4F46E5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Member Status Verification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Verifies member.status == 'active'. Suspended or expired members immediately rejected.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4F46E5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Borrowing Limit Enforcement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Counts active loans. If active &gt;= max_loans (e.g. 5), transaction aborts with informative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6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Atomic Lock &amp; Commit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Inserts record into loans, transitions copy status to 'on_loan', fulfills holds in one atomic db.transaction().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WORKFLOW IMPLEMENTATION • TRANSACTION 2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Journey 2: Return Workflow &amp; Hold Queue Promotion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071E3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Barcode Check-In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Librarian scans returned copy barcode. System locates active loan record where returned_at IS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4F46E5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Dynamic Overdue Calculation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Calculates (returned_at - due_at). If positive, computes fine ($1.00/day) and persists fine_amount.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4F46E5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Reservation Queue Check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Queries holds for next 'waiting' member ordered by placed_at ASC (First-Come, First-Served).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6" y="192024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State Transition</a:t>
            </a:r>
          </a:p>
          <a:p>
            <a:pPr>
              <a:lnSpc>
                <a:spcPct val="120000"/>
              </a:lnSpc>
              <a:defRPr sz="1150">
                <a:solidFill>
                  <a:srgbClr val="64748B"/>
                </a:solidFill>
              </a:defRPr>
            </a:pPr>
            <a:r>
              <a:t>If hold exists: copy status -&gt; 'on_hold', hold -&gt; 'ready_for_pickup' (3-day window). Else: copy -&gt; 'available'.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ADVANCED EXTENSIONS • RENEWALS &amp; REAPERS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Self-Service Loan Renewal &amp; Automated Hold Reaper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Operational Self-Service Renewal (+7 Days)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Endpoint &amp; UI: POST /api/loans/:id/renew with optimistic real-time UI state updates.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Rule 1: Overdue Prohibition — If current date &gt; due_at, renewal is blocked with late fee warning.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Rule 2: Quota Limit — Maximum 2 renewals permitted per loan record (tracked via renewal_count).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Rule 3: Queue Priority Protection — If other students have placed holds on the book title, renewal is rejected to prevent starvation.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Automated Hold Expiration Background Worker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Worker Function: reapExpiredHolds() executed every 60 seconds via background timer.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Expiration Detection: Queries holds WHERE status = 'ready_for_pickup' AND datetime('now') &gt; datetime(expires_at).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Automatic Re-allocation: Transitions delinquent hold to 'expired' and immediately assigns physical copy to the NEXT student.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Inventory Fallback: If no other student is waiting, copy status automatically reverts to 'available' on shelf.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ROLE-BASED ACCESS CONTROL (RBAC)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User Role Architecture: Distinct Views for Every 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7315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Member View (Students)</a:t>
            </a:r>
          </a:p>
          <a:p>
            <a:pPr>
              <a:spcAft>
                <a:spcPts val="1400"/>
              </a:spcAft>
              <a:defRPr sz="1000" b="1">
                <a:solidFill>
                  <a:srgbClr val="0071E3"/>
                </a:solidFill>
              </a:defRPr>
            </a:pPr>
            <a:r>
              <a:t>Self-Service Circulation &amp; Reader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Dedicated Portal: 'My Borrowed &amp; Holds' showing due dates, fine alerts, and queue rank.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One-Click Renewal: Operational +7 day loan renewal with instant live due date updates.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Reservation Management: Place or cancel waiting holds on high-demand titles.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Open E-Library: Browse public-domain digital books and open full-screen readers.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2900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745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Librarian View (Desk Staff)</a:t>
            </a:r>
          </a:p>
          <a:p>
            <a:pPr>
              <a:spcAft>
                <a:spcPts val="1400"/>
              </a:spcAft>
              <a:defRPr sz="1000" b="1">
                <a:solidFill>
                  <a:srgbClr val="4F46E5"/>
                </a:solidFill>
              </a:defRPr>
            </a:pPr>
            <a:r>
              <a:t>Real-Time Inventory &amp; Circulation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Librarian Dashboard: Real-time tracking of Copies On Shelf (Available) vs. Currently Borrowed.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Circulation Desk: High-speed barcode scanning interface for atomic Checkouts and Returns.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Inventory Minting: Add new titles to the catalog and generate unique physical barcodes.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Catalog Control: Real-time copy breakdown and shelf location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Administrator View (IT/Admin)</a:t>
            </a:r>
          </a:p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System Governance &amp; Audit Trail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Member Account Management: Provision student accounts, assign quotas, suspend/activate.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Circulation Analytics: Overdue delinquency reports and fine collection tracking.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Security Oversight: Role-based authorization rules and user credential auditing.</a:t>
            </a:r>
          </a:p>
          <a:p>
            <a:pPr>
              <a:spcAft>
                <a:spcPts val="900"/>
              </a:spcAft>
              <a:defRPr sz="1100">
                <a:solidFill>
                  <a:srgbClr val="64748B"/>
                </a:solidFill>
              </a:defRPr>
            </a:pPr>
            <a:r>
              <a:t>• Audit Ledger: Complete historical trail of all checkout, return, and fine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DIGITAL EXTENSION • OPEN SOURCE INTEGRATION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Open-Access E-Reader &amp; Global Archive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Internet Archive &amp; Open Library Integration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Live Open-Search Proxy: Queries Open Library API with full-text filter across millions of free works.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Quick Topic Exploration: One-click preset filters for Operating Systems, Relational Databases, AI, and Algorithms.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Automatic Catalog Bridge: When local stacks have 0 copies, automatically prompts to search in the Open E-Library.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Direct PDF Downloads: Provides verified direct links to public domain digital volumes.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High-Performance Interactive E-Reader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Fast-Embed Optimization: Embeds clean viewer with ?ui=embed, stripping redundant web wrapper overhead.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Widescreen Viewing (86vh): Dynamically expands layout to 1550px max width for reading 2-page spreads at a glance.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Theater / Fullscreen Mode: One-click toggle expands the book reader to 100% viewport dimensions.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Fallback Streaming: Dual reader tabs support interactive 2-page flipbook mode and fullscreen PDF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1E3"/>
                </a:solidFill>
              </a:defRPr>
            </a:pPr>
            <a:r>
              <a:t>DEPLOYMENT &amp; PROJECT SUMMARY</a:t>
            </a:r>
          </a:p>
          <a:p>
            <a:pPr>
              <a:defRPr sz="2500" b="1">
                <a:solidFill>
                  <a:srgbClr val="0F172A"/>
                </a:solidFill>
              </a:defRPr>
            </a:pPr>
            <a:r>
              <a:t>Deployment, Key DBMS Learnings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Core DBMS Takeaways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Domain Realism: Decoupling titles from physical copies is the golden standard for lending systems.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ACID over Client-Side Checks: Enforcing consistency inside database transactions prevents phantom states.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Indexes Matter: Partial unique indexes provide bulletproof business constraints without heavy table triggers.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Full-Stack Synergy: TypeScript end-to-end creates reliable contracts between React UI and the SQL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172A"/>
                </a:solidFill>
              </a:defRPr>
            </a:pPr>
            <a:r>
              <a:t>Native Hosting &amp; Reproducibility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GitHub Repository: Fully version-controlled codebase hosted at themellowhost/library-lending-system.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GitHub Pages Live Deployment: Automated GitHub Actions CI/CD workflow deploying frontend directly on git push.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Dual-Engine Execution: Seamlessly operates connected to local SQLite server OR standalone on GitHub Pages via resilient mock engine.</a:t>
            </a:r>
          </a:p>
          <a:p>
            <a:pPr>
              <a:spcAft>
                <a:spcPts val="1100"/>
              </a:spcAft>
              <a:defRPr sz="1200">
                <a:solidFill>
                  <a:srgbClr val="64748B"/>
                </a:solidFill>
              </a:defRPr>
            </a:pPr>
            <a:r>
              <a:t>• Dockerized Environment: Single-command deployment via Docker Compose with volume-mounted databases.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