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914400"/>
            <a:ext cx="1371600" cy="73152"/>
          </a:xfrm>
          <a:prstGeom prst="rect">
            <a:avLst/>
          </a:prstGeom>
          <a:solidFill>
            <a:srgbClr val="0071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1300" b="1">
                <a:solidFill>
                  <a:srgbClr val="0071E3"/>
                </a:solidFill>
              </a:defRPr>
            </a:pPr>
            <a:r>
              <a:t>DBMS SEMESTER 5 • LAB CONTINUOUS ASSESSMENT (LCA)</a:t>
            </a:r>
          </a:p>
          <a:p>
            <a:pPr>
              <a:spcAft>
                <a:spcPts val="1600"/>
              </a:spcAft>
              <a:defRPr sz="4400" b="1">
                <a:solidFill>
                  <a:srgbClr val="FFFFFF"/>
                </a:solidFill>
              </a:defRPr>
            </a:pPr>
            <a:r>
              <a:t>Library Lending System (LiberFlow)</a:t>
            </a:r>
          </a:p>
          <a:p>
            <a:pPr>
              <a:spcAft>
                <a:spcPts val="3600"/>
              </a:spcAft>
              <a:defRPr sz="2000">
                <a:solidFill>
                  <a:srgbClr val="A1A1AA"/>
                </a:solidFill>
              </a:defRPr>
            </a:pPr>
            <a:r>
              <a:t>Relational Modeling, Open-Access E-Reader, Federated OAuth &amp; Apple-Inspired UI</a:t>
            </a:r>
          </a:p>
          <a:p>
            <a:pPr>
              <a:defRPr sz="1200">
                <a:solidFill>
                  <a:srgbClr val="71717A"/>
                </a:solidFill>
              </a:defRPr>
            </a:pPr>
            <a:r>
              <a:t>Engineered with React 19 • Node.js/TypeScript • SQLite (WAL Mode) • Open Library API • Deployed to GitHub Pages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071E3"/>
                </a:solidFill>
              </a:defRPr>
            </a:pPr>
            <a:r>
              <a:t>SYSTEM REQUIREMENTS &amp; CORE DOMAIN</a:t>
            </a:r>
          </a:p>
          <a:p>
            <a:pPr>
              <a:defRPr sz="2500" b="1">
                <a:solidFill>
                  <a:srgbClr val="0F172A"/>
                </a:solidFill>
              </a:defRPr>
            </a:pPr>
            <a:r>
              <a:t>Problem Statement &amp; The Fundamental Design Choice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12080" cy="73152"/>
          </a:xfrm>
          <a:prstGeom prst="roundRect">
            <a:avLst/>
          </a:prstGeom>
          <a:solidFill>
            <a:srgbClr val="0071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20240"/>
            <a:ext cx="45720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700" b="1">
                <a:solidFill>
                  <a:srgbClr val="0F172A"/>
                </a:solidFill>
              </a:defRPr>
            </a:pPr>
            <a:r>
              <a:t>The Domain Challenge</a:t>
            </a:r>
          </a:p>
          <a:p>
            <a:pPr>
              <a:spcAft>
                <a:spcPts val="1100"/>
              </a:spcAft>
              <a:defRPr sz="1200">
                <a:solidFill>
                  <a:srgbClr val="64748B"/>
                </a:solidFill>
              </a:defRPr>
            </a:pPr>
            <a:r>
              <a:t>• A library does not lend abstract titles; it lends individual physical items with barcodes.</a:t>
            </a:r>
          </a:p>
          <a:p>
            <a:pPr>
              <a:spcAft>
                <a:spcPts val="1100"/>
              </a:spcAft>
              <a:defRPr sz="1200">
                <a:solidFill>
                  <a:srgbClr val="64748B"/>
                </a:solidFill>
              </a:defRPr>
            </a:pPr>
            <a:r>
              <a:t>• Naive library systems merge books and inventory, leading to severe data anomalies.</a:t>
            </a:r>
          </a:p>
          <a:p>
            <a:pPr>
              <a:spcAft>
                <a:spcPts val="1100"/>
              </a:spcAft>
              <a:defRPr sz="1200">
                <a:solidFill>
                  <a:srgbClr val="64748B"/>
                </a:solidFill>
              </a:defRPr>
            </a:pPr>
            <a:r>
              <a:t>• Requirements encompass 3 distinct user roles: Member, Librarian, and Administrator.</a:t>
            </a:r>
          </a:p>
          <a:p>
            <a:pPr>
              <a:spcAft>
                <a:spcPts val="1100"/>
              </a:spcAft>
              <a:defRPr sz="1200">
                <a:solidFill>
                  <a:srgbClr val="64748B"/>
                </a:solidFill>
              </a:defRPr>
            </a:pPr>
            <a:r>
              <a:t>• Circulation needs strict transactional enforcement to avoid concurrent double-booking.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73152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1920240"/>
            <a:ext cx="45720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700" b="1">
                <a:solidFill>
                  <a:srgbClr val="0F172A"/>
                </a:solidFill>
              </a:defRPr>
            </a:pPr>
            <a:r>
              <a:t>Key Design Choice: Title vs. Copy Separation</a:t>
            </a:r>
          </a:p>
          <a:p>
            <a:pPr>
              <a:spcAft>
                <a:spcPts val="1100"/>
              </a:spcAft>
              <a:defRPr sz="1200">
                <a:solidFill>
                  <a:srgbClr val="64748B"/>
                </a:solidFill>
              </a:defRPr>
            </a:pPr>
            <a:r>
              <a:t>• Book Entity (Metadata): Title, ISBN, Publisher, Category, Authors, Digital Reader/PDF URLs.</a:t>
            </a:r>
          </a:p>
          <a:p>
            <a:pPr>
              <a:spcAft>
                <a:spcPts val="1100"/>
              </a:spcAft>
              <a:defRPr sz="1200">
                <a:solidFill>
                  <a:srgbClr val="64748B"/>
                </a:solidFill>
              </a:defRPr>
            </a:pPr>
            <a:r>
              <a:t>• Copy Entity (Physical Item): Barcode, Shelf Location, Lending Status ('available', 'on_loan', 'on_hold').</a:t>
            </a:r>
          </a:p>
          <a:p>
            <a:pPr>
              <a:spcAft>
                <a:spcPts val="1100"/>
              </a:spcAft>
              <a:defRPr sz="1200">
                <a:solidFill>
                  <a:srgbClr val="64748B"/>
                </a:solidFill>
              </a:defRPr>
            </a:pPr>
            <a:r>
              <a:t>• Scalability: 1 title can have 10 physical copies across multiple library floors with independent circulation lifecycles.</a:t>
            </a:r>
          </a:p>
          <a:p>
            <a:pPr>
              <a:spcAft>
                <a:spcPts val="1100"/>
              </a:spcAft>
              <a:defRPr sz="1200">
                <a:solidFill>
                  <a:srgbClr val="64748B"/>
                </a:solidFill>
              </a:defRPr>
            </a:pPr>
            <a:r>
              <a:t>• Digital Hybrid: Physical copies circulate via barcode transactions while digital editions stream via online readers.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071E3"/>
                </a:solidFill>
              </a:defRPr>
            </a:pPr>
            <a:r>
              <a:t>ARCHITECTURE DECISION RECORD (ADR)</a:t>
            </a:r>
          </a:p>
          <a:p>
            <a:pPr>
              <a:defRPr sz="2500" b="1">
                <a:solidFill>
                  <a:srgbClr val="0F172A"/>
                </a:solidFill>
              </a:defRPr>
            </a:pPr>
            <a:r>
              <a:t>Technology Stack: What We Used and Why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42900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429000" cy="73152"/>
          </a:xfrm>
          <a:prstGeom prst="roundRect">
            <a:avLst/>
          </a:prstGeom>
          <a:solidFill>
            <a:srgbClr val="0071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74520"/>
            <a:ext cx="2880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500" b="1">
                <a:solidFill>
                  <a:srgbClr val="0F172A"/>
                </a:solidFill>
              </a:defRPr>
            </a:pPr>
            <a:r>
              <a:t>Frontend: React 19 + Apple UI</a:t>
            </a:r>
          </a:p>
          <a:p>
            <a:pPr>
              <a:spcAft>
                <a:spcPts val="1400"/>
              </a:spcAft>
              <a:defRPr sz="1000" b="1">
                <a:solidFill>
                  <a:srgbClr val="0071E3"/>
                </a:solidFill>
              </a:defRPr>
            </a:pPr>
            <a:r>
              <a:t>Apple Dark Glass &amp; Interactive E-Reader</a:t>
            </a:r>
          </a:p>
          <a:p>
            <a:pPr>
              <a:spcAft>
                <a:spcPts val="900"/>
              </a:spcAft>
              <a:defRPr sz="1100">
                <a:solidFill>
                  <a:srgbClr val="64748B"/>
                </a:solidFill>
              </a:defRPr>
            </a:pPr>
            <a:r>
              <a:t>• Apple Design Language: Dark frosted glass (.apple-glass), SF Pro fonts, and pill buttons.</a:t>
            </a:r>
          </a:p>
          <a:p>
            <a:pPr>
              <a:spcAft>
                <a:spcPts val="900"/>
              </a:spcAft>
              <a:defRPr sz="1100">
                <a:solidFill>
                  <a:srgbClr val="64748B"/>
                </a:solidFill>
              </a:defRPr>
            </a:pPr>
            <a:r>
              <a:t>• Interactive Digital E-Reader: Fast-embedded 2-page reader canvas with theater fullscreen mode.</a:t>
            </a:r>
          </a:p>
          <a:p>
            <a:pPr>
              <a:spcAft>
                <a:spcPts val="900"/>
              </a:spcAft>
              <a:defRPr sz="1100">
                <a:solidFill>
                  <a:srgbClr val="64748B"/>
                </a:solidFill>
              </a:defRPr>
            </a:pPr>
            <a:r>
              <a:t>• Federated OAuth: One-click Sign In with Apple and Google with official brand SVGs.</a:t>
            </a:r>
          </a:p>
          <a:p>
            <a:pPr>
              <a:spcAft>
                <a:spcPts val="900"/>
              </a:spcAft>
              <a:defRPr sz="1100">
                <a:solidFill>
                  <a:srgbClr val="64748B"/>
                </a:solidFill>
              </a:defRPr>
            </a:pPr>
            <a:r>
              <a:t>• Dual-Mode Resilience: Instant client-side fallback store enabling seamless static GitHub Pages hosting.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42900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89120" y="1645920"/>
            <a:ext cx="3429000" cy="73152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1874520"/>
            <a:ext cx="2880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500" b="1">
                <a:solidFill>
                  <a:srgbClr val="0F172A"/>
                </a:solidFill>
              </a:defRPr>
            </a:pPr>
            <a:r>
              <a:t>Backend: Node.js + Express + TS</a:t>
            </a:r>
          </a:p>
          <a:p>
            <a:pPr>
              <a:spcAft>
                <a:spcPts val="1400"/>
              </a:spcAft>
              <a:defRPr sz="1000" b="1">
                <a:solidFill>
                  <a:srgbClr val="4F46E5"/>
                </a:solidFill>
              </a:defRPr>
            </a:pPr>
            <a:r>
              <a:t>Type Safety &amp; Open API Integration</a:t>
            </a:r>
          </a:p>
          <a:p>
            <a:pPr>
              <a:spcAft>
                <a:spcPts val="900"/>
              </a:spcAft>
              <a:defRPr sz="1100">
                <a:solidFill>
                  <a:srgbClr val="64748B"/>
                </a:solidFill>
              </a:defRPr>
            </a:pPr>
            <a:r>
              <a:t>• Full TypeScript Stack: Shared data interfaces between client and server.</a:t>
            </a:r>
          </a:p>
          <a:p>
            <a:pPr>
              <a:spcAft>
                <a:spcPts val="900"/>
              </a:spcAft>
              <a:defRPr sz="1100">
                <a:solidFill>
                  <a:srgbClr val="64748B"/>
                </a:solidFill>
              </a:defRPr>
            </a:pPr>
            <a:r>
              <a:t>• Open Library Integration: Live search proxy querying millions of public-domain books.</a:t>
            </a:r>
          </a:p>
          <a:p>
            <a:pPr>
              <a:spcAft>
                <a:spcPts val="900"/>
              </a:spcAft>
              <a:defRPr sz="1100">
                <a:solidFill>
                  <a:srgbClr val="64748B"/>
                </a:solidFill>
              </a:defRPr>
            </a:pPr>
            <a:r>
              <a:t>• Bcrypt &amp; JWT Auth: Industry-standard 10-round salted password hashing with signed tokens.</a:t>
            </a:r>
          </a:p>
          <a:p>
            <a:pPr>
              <a:spcAft>
                <a:spcPts val="900"/>
              </a:spcAft>
              <a:defRPr sz="1100">
                <a:solidFill>
                  <a:srgbClr val="64748B"/>
                </a:solidFill>
              </a:defRPr>
            </a:pPr>
            <a:r>
              <a:t>• Background Worker: Automatic 60s reaper for expired hold queues.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645920"/>
            <a:ext cx="342900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046720" y="1645920"/>
            <a:ext cx="3429000" cy="73152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1874520"/>
            <a:ext cx="2880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500" b="1">
                <a:solidFill>
                  <a:srgbClr val="0F172A"/>
                </a:solidFill>
              </a:defRPr>
            </a:pPr>
            <a:r>
              <a:t>DBMS: Relational Engine (WAL)</a:t>
            </a:r>
          </a:p>
          <a:p>
            <a:pPr>
              <a:spcAft>
                <a:spcPts val="1400"/>
              </a:spcAft>
              <a:defRPr sz="1000" b="1">
                <a:solidFill>
                  <a:srgbClr val="10B981"/>
                </a:solidFill>
              </a:defRPr>
            </a:pPr>
            <a:r>
              <a:t>ACID Guarantees &amp; Partial Unique Indexes</a:t>
            </a:r>
          </a:p>
          <a:p>
            <a:pPr>
              <a:spcAft>
                <a:spcPts val="900"/>
              </a:spcAft>
              <a:defRPr sz="1100">
                <a:solidFill>
                  <a:srgbClr val="64748B"/>
                </a:solidFill>
              </a:defRPr>
            </a:pPr>
            <a:r>
              <a:t>• Foreign Keys Enforced (PRAGMA foreign_keys = ON): Guaranteed referential integrity.</a:t>
            </a:r>
          </a:p>
          <a:p>
            <a:pPr>
              <a:spcAft>
                <a:spcPts val="900"/>
              </a:spcAft>
              <a:defRPr sz="1100">
                <a:solidFill>
                  <a:srgbClr val="64748B"/>
                </a:solidFill>
              </a:defRPr>
            </a:pPr>
            <a:r>
              <a:t>• Write-Ahead Logging (WAL): Concurrency support for simultaneous reads and writes.</a:t>
            </a:r>
          </a:p>
          <a:p>
            <a:pPr>
              <a:spcAft>
                <a:spcPts val="900"/>
              </a:spcAft>
              <a:defRPr sz="1100">
                <a:solidFill>
                  <a:srgbClr val="64748B"/>
                </a:solidFill>
              </a:defRPr>
            </a:pPr>
            <a:r>
              <a:t>• Partial Unique Indexes: True DBMS-level constraints (e.g. 1 active loan per copy).</a:t>
            </a:r>
          </a:p>
          <a:p>
            <a:pPr>
              <a:spcAft>
                <a:spcPts val="900"/>
              </a:spcAft>
              <a:defRPr sz="1100">
                <a:solidFill>
                  <a:srgbClr val="64748B"/>
                </a:solidFill>
              </a:defRPr>
            </a:pPr>
            <a:r>
              <a:t>• Immutable Audit Log: Dedicated audit_logs table for all checkout, return, and renewal actions.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071E3"/>
                </a:solidFill>
              </a:defRPr>
            </a:pPr>
            <a:r>
              <a:t>RELATIONAL DATABASE DESIGN • ENTITY RELATIONSHIPS</a:t>
            </a:r>
          </a:p>
          <a:p>
            <a:pPr>
              <a:defRPr sz="2500" b="1">
                <a:solidFill>
                  <a:srgbClr val="0F172A"/>
                </a:solidFill>
              </a:defRPr>
            </a:pPr>
            <a:r>
              <a:t>Relational Schema &amp; Entity-Relationship Architecture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42900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73152" cy="2194560"/>
          </a:xfrm>
          <a:prstGeom prst="roundRect">
            <a:avLst/>
          </a:prstGeom>
          <a:solidFill>
            <a:srgbClr val="0071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30632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F172A"/>
                </a:solidFill>
              </a:defRPr>
            </a:pPr>
            <a:r>
              <a:t>users &amp; members (1 : 1)</a:t>
            </a:r>
          </a:p>
          <a:p>
            <a:pPr>
              <a:spcAft>
                <a:spcPts val="800"/>
              </a:spcAft>
              <a:defRPr sz="1000">
                <a:solidFill>
                  <a:srgbClr val="64748B"/>
                </a:solidFill>
              </a:defRPr>
            </a:pPr>
            <a:r>
              <a:t>users (id, email, password_hash, role) ───&lt; members (id, user_id, member_number, max_loans, status)</a:t>
            </a:r>
          </a:p>
          <a:p>
            <a:pPr>
              <a:defRPr sz="900" b="1">
                <a:solidFill>
                  <a:srgbClr val="0071E3"/>
                </a:solidFill>
              </a:defRPr>
            </a:pPr>
            <a:r>
              <a:t>Constraint: Foreign Key: user_id -&gt; users(id) ON DELETE CASCADE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42900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89120" y="1645920"/>
            <a:ext cx="73152" cy="219456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1828800"/>
            <a:ext cx="30632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F172A"/>
                </a:solidFill>
              </a:defRPr>
            </a:pPr>
            <a:r>
              <a:t>books &amp; categories (N : 1)</a:t>
            </a:r>
          </a:p>
          <a:p>
            <a:pPr>
              <a:spcAft>
                <a:spcPts val="800"/>
              </a:spcAft>
              <a:defRPr sz="1000">
                <a:solidFill>
                  <a:srgbClr val="64748B"/>
                </a:solidFill>
              </a:defRPr>
            </a:pPr>
            <a:r>
              <a:t>categories (id, name) ───&lt; books (id, isbn, title, category_id, cover_image_url, pdf_url, reader_url)</a:t>
            </a:r>
          </a:p>
          <a:p>
            <a:pPr>
              <a:defRPr sz="900" b="1">
                <a:solidFill>
                  <a:srgbClr val="4F46E5"/>
                </a:solidFill>
              </a:defRPr>
            </a:pPr>
            <a:r>
              <a:t>Constraint: Foreign Key: category_id -&gt; categories(id) ON DELETE SET NULL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645920"/>
            <a:ext cx="342900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046720" y="1645920"/>
            <a:ext cx="73152" cy="2194560"/>
          </a:xfrm>
          <a:prstGeom prst="roundRect">
            <a:avLst/>
          </a:prstGeom>
          <a:solidFill>
            <a:srgbClr val="9D4E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828800"/>
            <a:ext cx="30632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F172A"/>
                </a:solidFill>
              </a:defRPr>
            </a:pPr>
            <a:r>
              <a:t>books &amp; authors (M : N Junction)</a:t>
            </a:r>
          </a:p>
          <a:p>
            <a:pPr>
              <a:spcAft>
                <a:spcPts val="800"/>
              </a:spcAft>
              <a:defRPr sz="1000">
                <a:solidFill>
                  <a:srgbClr val="64748B"/>
                </a:solidFill>
              </a:defRPr>
            </a:pPr>
            <a:r>
              <a:t>books ───&lt; book_authors (book_id, author_id) &gt;─── authors (id, name)</a:t>
            </a:r>
          </a:p>
          <a:p>
            <a:pPr>
              <a:defRPr sz="900" b="1">
                <a:solidFill>
                  <a:srgbClr val="9D4EDD"/>
                </a:solidFill>
              </a:defRPr>
            </a:pPr>
            <a:r>
              <a:t>Constraint: Composite Primary Key: (book_id, author_id) with CASCADE deletes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069080"/>
            <a:ext cx="342900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31520" y="4069080"/>
            <a:ext cx="73152" cy="2194560"/>
          </a:xfrm>
          <a:prstGeom prst="roundRect">
            <a:avLst/>
          </a:prstGeom>
          <a:solidFill>
            <a:srgbClr val="0071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251960"/>
            <a:ext cx="30632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F172A"/>
                </a:solidFill>
              </a:defRPr>
            </a:pPr>
            <a:r>
              <a:t>books &amp; copies (1 : N Inventory)</a:t>
            </a:r>
          </a:p>
          <a:p>
            <a:pPr>
              <a:spcAft>
                <a:spcPts val="800"/>
              </a:spcAft>
              <a:defRPr sz="1000">
                <a:solidFill>
                  <a:srgbClr val="64748B"/>
                </a:solidFill>
              </a:defRPr>
            </a:pPr>
            <a:r>
              <a:t>books (id) ───&lt; copies (id, book_id, barcode, status, location)</a:t>
            </a:r>
          </a:p>
          <a:p>
            <a:pPr>
              <a:defRPr sz="900" b="1">
                <a:solidFill>
                  <a:srgbClr val="0071E3"/>
                </a:solidFill>
              </a:defRPr>
            </a:pPr>
            <a:r>
              <a:t>Constraint: copies.barcode UNIQUE • status IN ('available','on_loan','on_hold','lost')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4069080"/>
            <a:ext cx="342900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89120" y="4069080"/>
            <a:ext cx="73152" cy="219456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4251960"/>
            <a:ext cx="30632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F172A"/>
                </a:solidFill>
              </a:defRPr>
            </a:pPr>
            <a:r>
              <a:t>copies, members &amp; loans (Circulation)</a:t>
            </a:r>
          </a:p>
          <a:p>
            <a:pPr>
              <a:spcAft>
                <a:spcPts val="800"/>
              </a:spcAft>
              <a:defRPr sz="1000">
                <a:solidFill>
                  <a:srgbClr val="64748B"/>
                </a:solidFill>
              </a:defRPr>
            </a:pPr>
            <a:r>
              <a:t>copies (id) + members (id) ───&lt; loans (id, copy_id, member_id, due_at, renewal_count, fine_amount)</a:t>
            </a:r>
          </a:p>
          <a:p>
            <a:pPr>
              <a:defRPr sz="900" b="1">
                <a:solidFill>
                  <a:srgbClr val="4F46E5"/>
                </a:solidFill>
              </a:defRPr>
            </a:pPr>
            <a:r>
              <a:t>Constraint: PARTIAL UNIQUE INDEX: unique_active_loan_per_copy WHERE returned_at IS NULL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0" y="4069080"/>
            <a:ext cx="342900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46720" y="4069080"/>
            <a:ext cx="73152" cy="2194560"/>
          </a:xfrm>
          <a:prstGeom prst="roundRect">
            <a:avLst/>
          </a:prstGeom>
          <a:solidFill>
            <a:srgbClr val="9D4E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5320" y="4251960"/>
            <a:ext cx="30632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F172A"/>
                </a:solidFill>
              </a:defRPr>
            </a:pPr>
            <a:r>
              <a:t>holds &amp; audit_logs (Queues &amp; Ledgers)</a:t>
            </a:r>
          </a:p>
          <a:p>
            <a:pPr>
              <a:spcAft>
                <a:spcPts val="800"/>
              </a:spcAft>
              <a:defRPr sz="1000">
                <a:solidFill>
                  <a:srgbClr val="64748B"/>
                </a:solidFill>
              </a:defRPr>
            </a:pPr>
            <a:r>
              <a:t>holds (book_id, member_id, allocated_copy_id, status) + audit_logs (action, details)</a:t>
            </a:r>
          </a:p>
          <a:p>
            <a:pPr>
              <a:defRPr sz="900" b="1">
                <a:solidFill>
                  <a:srgbClr val="9D4EDD"/>
                </a:solidFill>
              </a:defRPr>
            </a:pPr>
            <a:r>
              <a:t>Constraint: PARTIAL UNIQUE INDEX: unique_active_hold_per_member_book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071E3"/>
                </a:solidFill>
              </a:defRPr>
            </a:pPr>
            <a:r>
              <a:t>WORKFLOW IMPLEMENTATION • TRANSACTION 1</a:t>
            </a:r>
          </a:p>
          <a:p>
            <a:pPr>
              <a:defRPr sz="2500" b="1">
                <a:solidFill>
                  <a:srgbClr val="0F172A"/>
                </a:solidFill>
              </a:defRPr>
            </a:pPr>
            <a:r>
              <a:t>Journey 1: Transactional Checkout Workflow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2542032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920240"/>
            <a:ext cx="208483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000" b="1">
                <a:solidFill>
                  <a:srgbClr val="0071E3"/>
                </a:solidFill>
              </a:defRPr>
            </a:pPr>
            <a:r>
              <a:t>01</a:t>
            </a:r>
          </a:p>
          <a:p>
            <a:pPr>
              <a:spcAft>
                <a:spcPts val="1200"/>
              </a:spcAft>
              <a:defRPr sz="1500" b="1">
                <a:solidFill>
                  <a:srgbClr val="0F172A"/>
                </a:solidFill>
              </a:defRPr>
            </a:pPr>
            <a:r>
              <a:t>Input &amp; Validation</a:t>
            </a:r>
          </a:p>
          <a:p>
            <a:pPr>
              <a:lnSpc>
                <a:spcPct val="120000"/>
              </a:lnSpc>
              <a:defRPr sz="1150">
                <a:solidFill>
                  <a:srgbClr val="64748B"/>
                </a:solidFill>
              </a:defRPr>
            </a:pPr>
            <a:r>
              <a:t>Librarian enters Member ID/Barcode and Copy Barcode. Zod validates payload format.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56432" y="1645920"/>
            <a:ext cx="2542032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85032" y="1920240"/>
            <a:ext cx="208483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000" b="1">
                <a:solidFill>
                  <a:srgbClr val="4F46E5"/>
                </a:solidFill>
              </a:defRPr>
            </a:pPr>
            <a:r>
              <a:t>02</a:t>
            </a:r>
          </a:p>
          <a:p>
            <a:pPr>
              <a:spcAft>
                <a:spcPts val="1200"/>
              </a:spcAft>
              <a:defRPr sz="1500" b="1">
                <a:solidFill>
                  <a:srgbClr val="0F172A"/>
                </a:solidFill>
              </a:defRPr>
            </a:pPr>
            <a:r>
              <a:t>Member Status Verification</a:t>
            </a:r>
          </a:p>
          <a:p>
            <a:pPr>
              <a:lnSpc>
                <a:spcPct val="120000"/>
              </a:lnSpc>
              <a:defRPr sz="1150">
                <a:solidFill>
                  <a:srgbClr val="64748B"/>
                </a:solidFill>
              </a:defRPr>
            </a:pPr>
            <a:r>
              <a:t>Verifies member.status == 'active'. Suspended or expired members immediately rejected.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1344" y="1645920"/>
            <a:ext cx="2542032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9944" y="1920240"/>
            <a:ext cx="208483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000" b="1">
                <a:solidFill>
                  <a:srgbClr val="4F46E5"/>
                </a:solidFill>
              </a:defRPr>
            </a:pPr>
            <a:r>
              <a:t>03</a:t>
            </a:r>
          </a:p>
          <a:p>
            <a:pPr>
              <a:spcAft>
                <a:spcPts val="1200"/>
              </a:spcAft>
              <a:defRPr sz="1500" b="1">
                <a:solidFill>
                  <a:srgbClr val="0F172A"/>
                </a:solidFill>
              </a:defRPr>
            </a:pPr>
            <a:r>
              <a:t>Borrowing Limit Enforcement</a:t>
            </a:r>
          </a:p>
          <a:p>
            <a:pPr>
              <a:lnSpc>
                <a:spcPct val="120000"/>
              </a:lnSpc>
              <a:defRPr sz="1150">
                <a:solidFill>
                  <a:srgbClr val="64748B"/>
                </a:solidFill>
              </a:defRPr>
            </a:pPr>
            <a:r>
              <a:t>Counts active loans. If active &gt;= max_loans (e.g. 5), transaction aborts with informative error.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06256" y="1645920"/>
            <a:ext cx="2542032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34856" y="1920240"/>
            <a:ext cx="208483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000" b="1">
                <a:solidFill>
                  <a:srgbClr val="10B981"/>
                </a:solidFill>
              </a:defRPr>
            </a:pPr>
            <a:r>
              <a:t>04</a:t>
            </a:r>
          </a:p>
          <a:p>
            <a:pPr>
              <a:spcAft>
                <a:spcPts val="1200"/>
              </a:spcAft>
              <a:defRPr sz="1500" b="1">
                <a:solidFill>
                  <a:srgbClr val="0F172A"/>
                </a:solidFill>
              </a:defRPr>
            </a:pPr>
            <a:r>
              <a:t>Atomic Lock &amp; Commit</a:t>
            </a:r>
          </a:p>
          <a:p>
            <a:pPr>
              <a:lnSpc>
                <a:spcPct val="120000"/>
              </a:lnSpc>
              <a:defRPr sz="1150">
                <a:solidFill>
                  <a:srgbClr val="64748B"/>
                </a:solidFill>
              </a:defRPr>
            </a:pPr>
            <a:r>
              <a:t>Inserts record into loans, transitions copy status to 'on_loan', fulfills holds in one atomic db.transaction().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071E3"/>
                </a:solidFill>
              </a:defRPr>
            </a:pPr>
            <a:r>
              <a:t>WORKFLOW IMPLEMENTATION • TRANSACTION 2</a:t>
            </a:r>
          </a:p>
          <a:p>
            <a:pPr>
              <a:defRPr sz="2500" b="1">
                <a:solidFill>
                  <a:srgbClr val="0F172A"/>
                </a:solidFill>
              </a:defRPr>
            </a:pPr>
            <a:r>
              <a:t>Journey 2: Return Workflow &amp; Hold Queue Promotion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2542032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920240"/>
            <a:ext cx="208483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000" b="1">
                <a:solidFill>
                  <a:srgbClr val="0071E3"/>
                </a:solidFill>
              </a:defRPr>
            </a:pPr>
            <a:r>
              <a:t>01</a:t>
            </a:r>
          </a:p>
          <a:p>
            <a:pPr>
              <a:spcAft>
                <a:spcPts val="1200"/>
              </a:spcAft>
              <a:defRPr sz="1500" b="1">
                <a:solidFill>
                  <a:srgbClr val="0F172A"/>
                </a:solidFill>
              </a:defRPr>
            </a:pPr>
            <a:r>
              <a:t>Barcode Check-In</a:t>
            </a:r>
          </a:p>
          <a:p>
            <a:pPr>
              <a:lnSpc>
                <a:spcPct val="120000"/>
              </a:lnSpc>
              <a:defRPr sz="1150">
                <a:solidFill>
                  <a:srgbClr val="64748B"/>
                </a:solidFill>
              </a:defRPr>
            </a:pPr>
            <a:r>
              <a:t>Librarian scans returned copy barcode. System locates active loan record where returned_at IS NULL.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56432" y="1645920"/>
            <a:ext cx="2542032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85032" y="1920240"/>
            <a:ext cx="208483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000" b="1">
                <a:solidFill>
                  <a:srgbClr val="4F46E5"/>
                </a:solidFill>
              </a:defRPr>
            </a:pPr>
            <a:r>
              <a:t>02</a:t>
            </a:r>
          </a:p>
          <a:p>
            <a:pPr>
              <a:spcAft>
                <a:spcPts val="1200"/>
              </a:spcAft>
              <a:defRPr sz="1500" b="1">
                <a:solidFill>
                  <a:srgbClr val="0F172A"/>
                </a:solidFill>
              </a:defRPr>
            </a:pPr>
            <a:r>
              <a:t>Dynamic Overdue Calculation</a:t>
            </a:r>
          </a:p>
          <a:p>
            <a:pPr>
              <a:lnSpc>
                <a:spcPct val="120000"/>
              </a:lnSpc>
              <a:defRPr sz="1150">
                <a:solidFill>
                  <a:srgbClr val="64748B"/>
                </a:solidFill>
              </a:defRPr>
            </a:pPr>
            <a:r>
              <a:t>Calculates (returned_at - due_at). If positive, computes fine ($1.00/day) and persists fine_amount.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1344" y="1645920"/>
            <a:ext cx="2542032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9944" y="1920240"/>
            <a:ext cx="208483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000" b="1">
                <a:solidFill>
                  <a:srgbClr val="4F46E5"/>
                </a:solidFill>
              </a:defRPr>
            </a:pPr>
            <a:r>
              <a:t>03</a:t>
            </a:r>
          </a:p>
          <a:p>
            <a:pPr>
              <a:spcAft>
                <a:spcPts val="1200"/>
              </a:spcAft>
              <a:defRPr sz="1500" b="1">
                <a:solidFill>
                  <a:srgbClr val="0F172A"/>
                </a:solidFill>
              </a:defRPr>
            </a:pPr>
            <a:r>
              <a:t>Reservation Queue Check</a:t>
            </a:r>
          </a:p>
          <a:p>
            <a:pPr>
              <a:lnSpc>
                <a:spcPct val="120000"/>
              </a:lnSpc>
              <a:defRPr sz="1150">
                <a:solidFill>
                  <a:srgbClr val="64748B"/>
                </a:solidFill>
              </a:defRPr>
            </a:pPr>
            <a:r>
              <a:t>Queries holds for next 'waiting' member ordered by placed_at ASC (First-Come, First-Served).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06256" y="1645920"/>
            <a:ext cx="2542032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34856" y="1920240"/>
            <a:ext cx="208483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000" b="1">
                <a:solidFill>
                  <a:srgbClr val="10B981"/>
                </a:solidFill>
              </a:defRPr>
            </a:pPr>
            <a:r>
              <a:t>04</a:t>
            </a:r>
          </a:p>
          <a:p>
            <a:pPr>
              <a:spcAft>
                <a:spcPts val="1200"/>
              </a:spcAft>
              <a:defRPr sz="1500" b="1">
                <a:solidFill>
                  <a:srgbClr val="0F172A"/>
                </a:solidFill>
              </a:defRPr>
            </a:pPr>
            <a:r>
              <a:t>State Transition</a:t>
            </a:r>
          </a:p>
          <a:p>
            <a:pPr>
              <a:lnSpc>
                <a:spcPct val="120000"/>
              </a:lnSpc>
              <a:defRPr sz="1150">
                <a:solidFill>
                  <a:srgbClr val="64748B"/>
                </a:solidFill>
              </a:defRPr>
            </a:pPr>
            <a:r>
              <a:t>If hold exists: copy status -&gt; 'on_hold', hold -&gt; 'ready_for_pickup' (3-day window). Else: copy -&gt; 'available'.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071E3"/>
                </a:solidFill>
              </a:defRPr>
            </a:pPr>
            <a:r>
              <a:t>ADVANCED EXTENSIONS • RENEWALS &amp; REAPERS</a:t>
            </a:r>
          </a:p>
          <a:p>
            <a:pPr>
              <a:defRPr sz="2500" b="1">
                <a:solidFill>
                  <a:srgbClr val="0F172A"/>
                </a:solidFill>
              </a:defRPr>
            </a:pPr>
            <a:r>
              <a:t>Self-Service Loan Renewal &amp; Automated Hold Reaper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12080" cy="73152"/>
          </a:xfrm>
          <a:prstGeom prst="roundRect">
            <a:avLst/>
          </a:prstGeom>
          <a:solidFill>
            <a:srgbClr val="0071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20240"/>
            <a:ext cx="45720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700" b="1">
                <a:solidFill>
                  <a:srgbClr val="0F172A"/>
                </a:solidFill>
              </a:defRPr>
            </a:pPr>
            <a:r>
              <a:t>Operational Self-Service Renewal (+7 Days)</a:t>
            </a:r>
          </a:p>
          <a:p>
            <a:pPr>
              <a:spcAft>
                <a:spcPts val="1100"/>
              </a:spcAft>
              <a:defRPr sz="1200">
                <a:solidFill>
                  <a:srgbClr val="64748B"/>
                </a:solidFill>
              </a:defRPr>
            </a:pPr>
            <a:r>
              <a:t>• Endpoint &amp; UI: POST /api/loans/:id/renew with optimistic real-time UI state updates.</a:t>
            </a:r>
          </a:p>
          <a:p>
            <a:pPr>
              <a:spcAft>
                <a:spcPts val="1100"/>
              </a:spcAft>
              <a:defRPr sz="1200">
                <a:solidFill>
                  <a:srgbClr val="64748B"/>
                </a:solidFill>
              </a:defRPr>
            </a:pPr>
            <a:r>
              <a:t>• Rule 1: Overdue Prohibition — If current date &gt; due_at, renewal is blocked with late fee warning.</a:t>
            </a:r>
          </a:p>
          <a:p>
            <a:pPr>
              <a:spcAft>
                <a:spcPts val="1100"/>
              </a:spcAft>
              <a:defRPr sz="1200">
                <a:solidFill>
                  <a:srgbClr val="64748B"/>
                </a:solidFill>
              </a:defRPr>
            </a:pPr>
            <a:r>
              <a:t>• Rule 2: Quota Limit — Maximum 2 renewals permitted per loan record (tracked via renewal_count).</a:t>
            </a:r>
          </a:p>
          <a:p>
            <a:pPr>
              <a:spcAft>
                <a:spcPts val="1100"/>
              </a:spcAft>
              <a:defRPr sz="1200">
                <a:solidFill>
                  <a:srgbClr val="64748B"/>
                </a:solidFill>
              </a:defRPr>
            </a:pPr>
            <a:r>
              <a:t>• Rule 3: Queue Priority Protection — If other students have placed holds on the book title, renewal is rejected to prevent starvation.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73152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1920240"/>
            <a:ext cx="45720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700" b="1">
                <a:solidFill>
                  <a:srgbClr val="0F172A"/>
                </a:solidFill>
              </a:defRPr>
            </a:pPr>
            <a:r>
              <a:t>Automated Hold Expiration Background Worker</a:t>
            </a:r>
          </a:p>
          <a:p>
            <a:pPr>
              <a:spcAft>
                <a:spcPts val="1100"/>
              </a:spcAft>
              <a:defRPr sz="1200">
                <a:solidFill>
                  <a:srgbClr val="64748B"/>
                </a:solidFill>
              </a:defRPr>
            </a:pPr>
            <a:r>
              <a:t>• Worker Function: reapExpiredHolds() executed every 60 seconds via background timer.</a:t>
            </a:r>
          </a:p>
          <a:p>
            <a:pPr>
              <a:spcAft>
                <a:spcPts val="1100"/>
              </a:spcAft>
              <a:defRPr sz="1200">
                <a:solidFill>
                  <a:srgbClr val="64748B"/>
                </a:solidFill>
              </a:defRPr>
            </a:pPr>
            <a:r>
              <a:t>• Expiration Detection: Queries holds WHERE status = 'ready_for_pickup' AND datetime('now') &gt; datetime(expires_at).</a:t>
            </a:r>
          </a:p>
          <a:p>
            <a:pPr>
              <a:spcAft>
                <a:spcPts val="1100"/>
              </a:spcAft>
              <a:defRPr sz="1200">
                <a:solidFill>
                  <a:srgbClr val="64748B"/>
                </a:solidFill>
              </a:defRPr>
            </a:pPr>
            <a:r>
              <a:t>• Automatic Re-allocation: Transitions delinquent hold to 'expired' and immediately assigns physical copy to the NEXT student.</a:t>
            </a:r>
          </a:p>
          <a:p>
            <a:pPr>
              <a:spcAft>
                <a:spcPts val="1100"/>
              </a:spcAft>
              <a:defRPr sz="1200">
                <a:solidFill>
                  <a:srgbClr val="64748B"/>
                </a:solidFill>
              </a:defRPr>
            </a:pPr>
            <a:r>
              <a:t>• Inventory Fallback: If no other student is waiting, copy status automatically reverts to 'available' on shelf.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071E3"/>
                </a:solidFill>
              </a:defRPr>
            </a:pPr>
            <a:r>
              <a:t>ROLE-BASED ACCESS CONTROL (RBAC)</a:t>
            </a:r>
          </a:p>
          <a:p>
            <a:pPr>
              <a:defRPr sz="2500" b="1">
                <a:solidFill>
                  <a:srgbClr val="0F172A"/>
                </a:solidFill>
              </a:defRPr>
            </a:pPr>
            <a:r>
              <a:t>User Role Architecture: Distinct Views for Every User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42900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429000" cy="73152"/>
          </a:xfrm>
          <a:prstGeom prst="roundRect">
            <a:avLst/>
          </a:prstGeom>
          <a:solidFill>
            <a:srgbClr val="0071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74520"/>
            <a:ext cx="2880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500" b="1">
                <a:solidFill>
                  <a:srgbClr val="0F172A"/>
                </a:solidFill>
              </a:defRPr>
            </a:pPr>
            <a:r>
              <a:t>Member View (Students)</a:t>
            </a:r>
          </a:p>
          <a:p>
            <a:pPr>
              <a:spcAft>
                <a:spcPts val="1400"/>
              </a:spcAft>
              <a:defRPr sz="1000" b="1">
                <a:solidFill>
                  <a:srgbClr val="0071E3"/>
                </a:solidFill>
              </a:defRPr>
            </a:pPr>
            <a:r>
              <a:t>Self-Service Circulation &amp; Reader</a:t>
            </a:r>
          </a:p>
          <a:p>
            <a:pPr>
              <a:spcAft>
                <a:spcPts val="900"/>
              </a:spcAft>
              <a:defRPr sz="1100">
                <a:solidFill>
                  <a:srgbClr val="64748B"/>
                </a:solidFill>
              </a:defRPr>
            </a:pPr>
            <a:r>
              <a:t>• Dedicated Portal: 'My Borrowed &amp; Holds' showing due dates, fine alerts, and queue rank.</a:t>
            </a:r>
          </a:p>
          <a:p>
            <a:pPr>
              <a:spcAft>
                <a:spcPts val="900"/>
              </a:spcAft>
              <a:defRPr sz="1100">
                <a:solidFill>
                  <a:srgbClr val="64748B"/>
                </a:solidFill>
              </a:defRPr>
            </a:pPr>
            <a:r>
              <a:t>• One-Click Renewal: Operational +7 day loan renewal with instant live due date updates.</a:t>
            </a:r>
          </a:p>
          <a:p>
            <a:pPr>
              <a:spcAft>
                <a:spcPts val="900"/>
              </a:spcAft>
              <a:defRPr sz="1100">
                <a:solidFill>
                  <a:srgbClr val="64748B"/>
                </a:solidFill>
              </a:defRPr>
            </a:pPr>
            <a:r>
              <a:t>• Reservation Management: Place or cancel waiting holds on high-demand titles.</a:t>
            </a:r>
          </a:p>
          <a:p>
            <a:pPr>
              <a:spcAft>
                <a:spcPts val="900"/>
              </a:spcAft>
              <a:defRPr sz="1100">
                <a:solidFill>
                  <a:srgbClr val="64748B"/>
                </a:solidFill>
              </a:defRPr>
            </a:pPr>
            <a:r>
              <a:t>• Open E-Library: Browse public-domain digital books and open full-screen readers.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42900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89120" y="1645920"/>
            <a:ext cx="3429000" cy="73152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1874520"/>
            <a:ext cx="2880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500" b="1">
                <a:solidFill>
                  <a:srgbClr val="0F172A"/>
                </a:solidFill>
              </a:defRPr>
            </a:pPr>
            <a:r>
              <a:t>Librarian View (Desk Staff)</a:t>
            </a:r>
          </a:p>
          <a:p>
            <a:pPr>
              <a:spcAft>
                <a:spcPts val="1400"/>
              </a:spcAft>
              <a:defRPr sz="1000" b="1">
                <a:solidFill>
                  <a:srgbClr val="4F46E5"/>
                </a:solidFill>
              </a:defRPr>
            </a:pPr>
            <a:r>
              <a:t>Real-Time Inventory &amp; Circulation</a:t>
            </a:r>
          </a:p>
          <a:p>
            <a:pPr>
              <a:spcAft>
                <a:spcPts val="900"/>
              </a:spcAft>
              <a:defRPr sz="1100">
                <a:solidFill>
                  <a:srgbClr val="64748B"/>
                </a:solidFill>
              </a:defRPr>
            </a:pPr>
            <a:r>
              <a:t>• Librarian Dashboard: Real-time tracking of Copies On Shelf (Available) vs. Currently Borrowed.</a:t>
            </a:r>
          </a:p>
          <a:p>
            <a:pPr>
              <a:spcAft>
                <a:spcPts val="900"/>
              </a:spcAft>
              <a:defRPr sz="1100">
                <a:solidFill>
                  <a:srgbClr val="64748B"/>
                </a:solidFill>
              </a:defRPr>
            </a:pPr>
            <a:r>
              <a:t>• Circulation Desk: High-speed barcode scanning interface for atomic Checkouts and Returns.</a:t>
            </a:r>
          </a:p>
          <a:p>
            <a:pPr>
              <a:spcAft>
                <a:spcPts val="900"/>
              </a:spcAft>
              <a:defRPr sz="1100">
                <a:solidFill>
                  <a:srgbClr val="64748B"/>
                </a:solidFill>
              </a:defRPr>
            </a:pPr>
            <a:r>
              <a:t>• Inventory Minting: Add new titles to the catalog and generate unique physical barcodes.</a:t>
            </a:r>
          </a:p>
          <a:p>
            <a:pPr>
              <a:spcAft>
                <a:spcPts val="900"/>
              </a:spcAft>
              <a:defRPr sz="1100">
                <a:solidFill>
                  <a:srgbClr val="64748B"/>
                </a:solidFill>
              </a:defRPr>
            </a:pPr>
            <a:r>
              <a:t>• Catalog Control: Real-time copy breakdown and shelf location inspection.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645920"/>
            <a:ext cx="342900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046720" y="1645920"/>
            <a:ext cx="3429000" cy="73152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1874520"/>
            <a:ext cx="2880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500" b="1">
                <a:solidFill>
                  <a:srgbClr val="0F172A"/>
                </a:solidFill>
              </a:defRPr>
            </a:pPr>
            <a:r>
              <a:t>Administrator View (IT/Admin)</a:t>
            </a:r>
          </a:p>
          <a:p>
            <a:pPr>
              <a:spcAft>
                <a:spcPts val="1400"/>
              </a:spcAft>
              <a:defRPr sz="1000" b="1">
                <a:solidFill>
                  <a:srgbClr val="10B981"/>
                </a:solidFill>
              </a:defRPr>
            </a:pPr>
            <a:r>
              <a:t>System Governance &amp; Audit Trail</a:t>
            </a:r>
          </a:p>
          <a:p>
            <a:pPr>
              <a:spcAft>
                <a:spcPts val="900"/>
              </a:spcAft>
              <a:defRPr sz="1100">
                <a:solidFill>
                  <a:srgbClr val="64748B"/>
                </a:solidFill>
              </a:defRPr>
            </a:pPr>
            <a:r>
              <a:t>• Member Account Management: Provision student accounts, assign quotas, suspend/activate.</a:t>
            </a:r>
          </a:p>
          <a:p>
            <a:pPr>
              <a:spcAft>
                <a:spcPts val="900"/>
              </a:spcAft>
              <a:defRPr sz="1100">
                <a:solidFill>
                  <a:srgbClr val="64748B"/>
                </a:solidFill>
              </a:defRPr>
            </a:pPr>
            <a:r>
              <a:t>• Circulation Analytics: Overdue delinquency reports and fine collection tracking.</a:t>
            </a:r>
          </a:p>
          <a:p>
            <a:pPr>
              <a:spcAft>
                <a:spcPts val="900"/>
              </a:spcAft>
              <a:defRPr sz="1100">
                <a:solidFill>
                  <a:srgbClr val="64748B"/>
                </a:solidFill>
              </a:defRPr>
            </a:pPr>
            <a:r>
              <a:t>• Security Oversight: Role-based authorization rules and user credential auditing.</a:t>
            </a:r>
          </a:p>
          <a:p>
            <a:pPr>
              <a:spcAft>
                <a:spcPts val="900"/>
              </a:spcAft>
              <a:defRPr sz="1100">
                <a:solidFill>
                  <a:srgbClr val="64748B"/>
                </a:solidFill>
              </a:defRPr>
            </a:pPr>
            <a:r>
              <a:t>• Audit Ledger: Complete historical trail of all checkout, return, and fine events.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071E3"/>
                </a:solidFill>
              </a:defRPr>
            </a:pPr>
            <a:r>
              <a:t>DIGITAL EXTENSION • OPEN SOURCE INTEGRATION</a:t>
            </a:r>
          </a:p>
          <a:p>
            <a:pPr>
              <a:defRPr sz="2500" b="1">
                <a:solidFill>
                  <a:srgbClr val="0F172A"/>
                </a:solidFill>
              </a:defRPr>
            </a:pPr>
            <a:r>
              <a:t>Open-Access E-Reader &amp; Global Archive Integration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12080" cy="73152"/>
          </a:xfrm>
          <a:prstGeom prst="roundRect">
            <a:avLst/>
          </a:prstGeom>
          <a:solidFill>
            <a:srgbClr val="0071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20240"/>
            <a:ext cx="45720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700" b="1">
                <a:solidFill>
                  <a:srgbClr val="0F172A"/>
                </a:solidFill>
              </a:defRPr>
            </a:pPr>
            <a:r>
              <a:t>Internet Archive &amp; Open Library Integration</a:t>
            </a:r>
          </a:p>
          <a:p>
            <a:pPr>
              <a:spcAft>
                <a:spcPts val="1100"/>
              </a:spcAft>
              <a:defRPr sz="1200">
                <a:solidFill>
                  <a:srgbClr val="64748B"/>
                </a:solidFill>
              </a:defRPr>
            </a:pPr>
            <a:r>
              <a:t>• Live Open-Search Proxy: Queries Open Library API with full-text filter across millions of free works.</a:t>
            </a:r>
          </a:p>
          <a:p>
            <a:pPr>
              <a:spcAft>
                <a:spcPts val="1100"/>
              </a:spcAft>
              <a:defRPr sz="1200">
                <a:solidFill>
                  <a:srgbClr val="64748B"/>
                </a:solidFill>
              </a:defRPr>
            </a:pPr>
            <a:r>
              <a:t>• Quick Topic Exploration: One-click preset filters for Operating Systems, Relational Databases, AI, and Algorithms.</a:t>
            </a:r>
          </a:p>
          <a:p>
            <a:pPr>
              <a:spcAft>
                <a:spcPts val="1100"/>
              </a:spcAft>
              <a:defRPr sz="1200">
                <a:solidFill>
                  <a:srgbClr val="64748B"/>
                </a:solidFill>
              </a:defRPr>
            </a:pPr>
            <a:r>
              <a:t>• Automatic Catalog Bridge: When local stacks have 0 copies, automatically prompts to search in the Open E-Library.</a:t>
            </a:r>
          </a:p>
          <a:p>
            <a:pPr>
              <a:spcAft>
                <a:spcPts val="1100"/>
              </a:spcAft>
              <a:defRPr sz="1200">
                <a:solidFill>
                  <a:srgbClr val="64748B"/>
                </a:solidFill>
              </a:defRPr>
            </a:pPr>
            <a:r>
              <a:t>• Direct PDF Downloads: Provides verified direct links to public domain digital volumes.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73152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1920240"/>
            <a:ext cx="45720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700" b="1">
                <a:solidFill>
                  <a:srgbClr val="0F172A"/>
                </a:solidFill>
              </a:defRPr>
            </a:pPr>
            <a:r>
              <a:t>High-Performance Interactive E-Reader</a:t>
            </a:r>
          </a:p>
          <a:p>
            <a:pPr>
              <a:spcAft>
                <a:spcPts val="1100"/>
              </a:spcAft>
              <a:defRPr sz="1200">
                <a:solidFill>
                  <a:srgbClr val="64748B"/>
                </a:solidFill>
              </a:defRPr>
            </a:pPr>
            <a:r>
              <a:t>• Fast-Embed Optimization: Embeds clean viewer with ?ui=embed, stripping redundant web wrapper overhead.</a:t>
            </a:r>
          </a:p>
          <a:p>
            <a:pPr>
              <a:spcAft>
                <a:spcPts val="1100"/>
              </a:spcAft>
              <a:defRPr sz="1200">
                <a:solidFill>
                  <a:srgbClr val="64748B"/>
                </a:solidFill>
              </a:defRPr>
            </a:pPr>
            <a:r>
              <a:t>• Widescreen Viewing (86vh): Dynamically expands layout to 1550px max width for reading 2-page spreads at a glance.</a:t>
            </a:r>
          </a:p>
          <a:p>
            <a:pPr>
              <a:spcAft>
                <a:spcPts val="1100"/>
              </a:spcAft>
              <a:defRPr sz="1200">
                <a:solidFill>
                  <a:srgbClr val="64748B"/>
                </a:solidFill>
              </a:defRPr>
            </a:pPr>
            <a:r>
              <a:t>• Theater / Fullscreen Mode: One-click toggle expands the book reader to 100% viewport dimensions.</a:t>
            </a:r>
          </a:p>
          <a:p>
            <a:pPr>
              <a:spcAft>
                <a:spcPts val="1100"/>
              </a:spcAft>
              <a:defRPr sz="1200">
                <a:solidFill>
                  <a:srgbClr val="64748B"/>
                </a:solidFill>
              </a:defRPr>
            </a:pPr>
            <a:r>
              <a:t>• Fallback Streaming: Dual reader tabs support interactive 2-page flipbook mode and fullscreen PDF mode.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071E3"/>
                </a:solidFill>
              </a:defRPr>
            </a:pPr>
            <a:r>
              <a:t>DEPLOYMENT &amp; PROJECT SUMMARY</a:t>
            </a:r>
          </a:p>
          <a:p>
            <a:pPr>
              <a:defRPr sz="2500" b="1">
                <a:solidFill>
                  <a:srgbClr val="0F172A"/>
                </a:solidFill>
              </a:defRPr>
            </a:pPr>
            <a:r>
              <a:t>Deployment, Key DBMS Learnings &amp; Verification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12080" cy="73152"/>
          </a:xfrm>
          <a:prstGeom prst="roundRect">
            <a:avLst/>
          </a:prstGeom>
          <a:solidFill>
            <a:srgbClr val="0071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20240"/>
            <a:ext cx="45720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700" b="1">
                <a:solidFill>
                  <a:srgbClr val="0F172A"/>
                </a:solidFill>
              </a:defRPr>
            </a:pPr>
            <a:r>
              <a:t>Core DBMS Takeaways</a:t>
            </a:r>
          </a:p>
          <a:p>
            <a:pPr>
              <a:spcAft>
                <a:spcPts val="1100"/>
              </a:spcAft>
              <a:defRPr sz="1200">
                <a:solidFill>
                  <a:srgbClr val="64748B"/>
                </a:solidFill>
              </a:defRPr>
            </a:pPr>
            <a:r>
              <a:t>• Domain Realism: Decoupling titles from physical copies is the golden standard for lending systems.</a:t>
            </a:r>
          </a:p>
          <a:p>
            <a:pPr>
              <a:spcAft>
                <a:spcPts val="1100"/>
              </a:spcAft>
              <a:defRPr sz="1200">
                <a:solidFill>
                  <a:srgbClr val="64748B"/>
                </a:solidFill>
              </a:defRPr>
            </a:pPr>
            <a:r>
              <a:t>• ACID over Client-Side Checks: Enforcing consistency inside database transactions prevents phantom states.</a:t>
            </a:r>
          </a:p>
          <a:p>
            <a:pPr>
              <a:spcAft>
                <a:spcPts val="1100"/>
              </a:spcAft>
              <a:defRPr sz="1200">
                <a:solidFill>
                  <a:srgbClr val="64748B"/>
                </a:solidFill>
              </a:defRPr>
            </a:pPr>
            <a:r>
              <a:t>• Indexes Matter: Partial unique indexes provide bulletproof business constraints without heavy table triggers.</a:t>
            </a:r>
          </a:p>
          <a:p>
            <a:pPr>
              <a:spcAft>
                <a:spcPts val="1100"/>
              </a:spcAft>
              <a:defRPr sz="1200">
                <a:solidFill>
                  <a:srgbClr val="64748B"/>
                </a:solidFill>
              </a:defRPr>
            </a:pPr>
            <a:r>
              <a:t>• Full-Stack Synergy: TypeScript end-to-end creates reliable contracts between React UI and the SQL engine.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73152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1920240"/>
            <a:ext cx="45720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700" b="1">
                <a:solidFill>
                  <a:srgbClr val="0F172A"/>
                </a:solidFill>
              </a:defRPr>
            </a:pPr>
            <a:r>
              <a:t>Native Hosting &amp; Reproducibility</a:t>
            </a:r>
          </a:p>
          <a:p>
            <a:pPr>
              <a:spcAft>
                <a:spcPts val="1100"/>
              </a:spcAft>
              <a:defRPr sz="1200">
                <a:solidFill>
                  <a:srgbClr val="64748B"/>
                </a:solidFill>
              </a:defRPr>
            </a:pPr>
            <a:r>
              <a:t>• GitHub Repository: Fully version-controlled codebase hosted at themellowhost/library-lending-system.</a:t>
            </a:r>
          </a:p>
          <a:p>
            <a:pPr>
              <a:spcAft>
                <a:spcPts val="1100"/>
              </a:spcAft>
              <a:defRPr sz="1200">
                <a:solidFill>
                  <a:srgbClr val="64748B"/>
                </a:solidFill>
              </a:defRPr>
            </a:pPr>
            <a:r>
              <a:t>• GitHub Pages Live Deployment: Automated GitHub Actions CI/CD workflow deploying frontend directly on git push.</a:t>
            </a:r>
          </a:p>
          <a:p>
            <a:pPr>
              <a:spcAft>
                <a:spcPts val="1100"/>
              </a:spcAft>
              <a:defRPr sz="1200">
                <a:solidFill>
                  <a:srgbClr val="64748B"/>
                </a:solidFill>
              </a:defRPr>
            </a:pPr>
            <a:r>
              <a:t>• Dual-Engine Execution: Seamlessly operates connected to local SQLite server OR standalone on GitHub Pages via resilient mock engine.</a:t>
            </a:r>
          </a:p>
          <a:p>
            <a:pPr>
              <a:spcAft>
                <a:spcPts val="1100"/>
              </a:spcAft>
              <a:defRPr sz="1200">
                <a:solidFill>
                  <a:srgbClr val="64748B"/>
                </a:solidFill>
              </a:defRPr>
            </a:pPr>
            <a:r>
              <a:t>• Dockerized Environment: Single-command deployment via Docker Compose with volume-mounted databases.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